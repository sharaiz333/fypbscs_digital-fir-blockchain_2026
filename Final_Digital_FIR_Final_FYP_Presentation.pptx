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6858000" type="screen4x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gqso+muD7qxSKyk66oXGt+27nM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1450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19425" y="720075"/>
            <a:ext cx="4877025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114530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33566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1526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92124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009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61060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505696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6253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039867fdc9_0_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5" name="Google Shape;125;g2039867fdc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0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39867fdc9_0_1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g2039867fdc9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84900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87679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95206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4510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5" name="Google Shape;1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4224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7870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7" name="Google Shape;16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115621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04599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8621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algn="ctr"/>
            <a:r>
              <a:rPr sz="3000" b="1">
                <a:solidFill>
                  <a:srgbClr val="1F497D"/>
                </a:solidFill>
                <a:latin typeface="Arial"/>
              </a:rPr>
              <a:t>Final Year Project Proposal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Arial"/>
              </a:rPr>
              <a:t>Digital FIR</a:t>
            </a:r>
          </a:p>
          <a:p>
            <a:pPr algn="ctr"/>
            <a:r>
              <a:rPr sz="1800" b="0">
                <a:solidFill>
                  <a:srgbClr val="141414"/>
                </a:solidFill>
                <a:latin typeface="Arial"/>
              </a:rPr>
              <a:t>A Blockchain Based Secure First Information Report Management System for the Pakistan Police</a:t>
            </a:r>
          </a:p>
          <a:p>
            <a:pPr algn="ctr"/>
            <a:endParaRPr sz="1800" b="0">
              <a:solidFill>
                <a:srgbClr val="141414"/>
              </a:solidFill>
              <a:latin typeface="Arial"/>
            </a:endParaRPr>
          </a:p>
          <a:p>
            <a:pPr algn="ctr"/>
            <a:r>
              <a:rPr sz="1800" b="0">
                <a:solidFill>
                  <a:srgbClr val="141414"/>
                </a:solidFill>
                <a:latin typeface="Arial"/>
              </a:rPr>
              <a:t>Supervised By: Tabassum Javed</a:t>
            </a:r>
          </a:p>
        </p:txBody>
      </p:sp>
      <p:pic>
        <p:nvPicPr>
          <p:cNvPr id="86" name="Google Shape;86;p1" descr="Riphah.jpg"/>
          <p:cNvPicPr preferRelativeResize="0"/>
          <p:nvPr/>
        </p:nvPicPr>
        <p:blipFill rotWithShape="1">
          <a:blip r:embed="rId4">
            <a:alphaModFix/>
          </a:blip>
          <a:srcRect l="3033" t="4065" r="6926" b="4925"/>
          <a:stretch/>
        </p:blipFill>
        <p:spPr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Team</a:t>
            </a:r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152" tIns="36576" rIns="73152" bIns="36576" anchor="t" anchorCtr="0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Sharaiz Ahmed (57288)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Abdul Moiz (54482)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Basit Ali (54596)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Table of Content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1508760"/>
            <a:ext cx="3749039" cy="4206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Introduction and Background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Existing Systems in Pakistan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Gap Analysis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Problem Statement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Proposed Solution and Methodology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System Architecture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1508760"/>
            <a:ext cx="3749039" cy="4206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Project Scope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Work Breakdown Structure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Roles and Responsibilities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Constraints and Limitations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Expected Benefits and Success Criteria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Conclusion and Q&amp;A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694606" y="4581242"/>
            <a:ext cx="7772400" cy="481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  <p:sp>
        <p:nvSpPr>
          <p:cNvPr id="110" name="Google Shape;110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59436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94360" y="150876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49808" y="1618488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What is an FIR?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9808" y="2011680"/>
            <a:ext cx="3520439" cy="91717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 dirty="0">
                <a:solidFill>
                  <a:srgbClr val="141414"/>
                </a:solidFill>
                <a:latin typeface="Arial"/>
              </a:rPr>
              <a:t>An FIR formally opens the criminal justice process. It records the reported offence, identifies the 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parties</a:t>
            </a:r>
            <a:r>
              <a:rPr lang="en-US" sz="14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starts investigation.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4572000" y="1508760"/>
            <a:ext cx="64008" cy="1874519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727448" y="1618488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Current situation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27448" y="2011680"/>
            <a:ext cx="3520439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 dirty="0">
                <a:solidFill>
                  <a:srgbClr val="141414"/>
                </a:solidFill>
                <a:latin typeface="Arial"/>
              </a:rPr>
              <a:t>Punjab, 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Sindh</a:t>
            </a:r>
            <a:r>
              <a:rPr lang="en-US" sz="14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KP already use digital complaint and record systems. The project does not aim to replace these systems.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3611880"/>
            <a:ext cx="772667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594360" y="361188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49808" y="3721608"/>
            <a:ext cx="749807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What this project adds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11480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 dirty="0">
                <a:solidFill>
                  <a:srgbClr val="141414"/>
                </a:solidFill>
                <a:latin typeface="Arial"/>
              </a:rPr>
              <a:t>A permissioned </a:t>
            </a:r>
            <a:r>
              <a:rPr sz="1400"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 Fabric layer for integrity, 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traceability</a:t>
            </a:r>
            <a:r>
              <a:rPr lang="en-US" sz="14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tamper evident auditing, while sensitive FIR data stays off chain.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IN PAKISTAN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and Comparison</a:t>
            </a:r>
          </a:p>
        </p:txBody>
      </p:sp>
      <p:sp>
        <p:nvSpPr>
          <p:cNvPr id="122" name="Google Shape;122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graphicFrame>
        <p:nvGraphicFramePr>
          <p:cNvPr id="123" name="Table 122"/>
          <p:cNvGraphicFramePr>
            <a:graphicFrameLocks noGrp="1"/>
          </p:cNvGraphicFramePr>
          <p:nvPr/>
        </p:nvGraphicFramePr>
        <p:xfrm>
          <a:off x="411480" y="1417320"/>
          <a:ext cx="83210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43000"/>
                <a:gridCol w="1143000"/>
                <a:gridCol w="1143000"/>
                <a:gridCol w="2606040"/>
              </a:tblGrid>
              <a:tr h="5600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Punjab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Sindh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Digital FIR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Digital complaint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Digital FIR / case records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Case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Officer assignment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Document hashing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SHA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Permissioned blockchain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Tamper evident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Blockchain +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039867fdc9_0_1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GAP ANALYSIS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039867fdc9_0_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Research Gap and Novelty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594360" y="1417320"/>
            <a:ext cx="64008" cy="19202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1527048"/>
            <a:ext cx="3474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  <a:latin typeface="Arial"/>
              </a:rPr>
              <a:t>Existing capability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1920240"/>
            <a:ext cx="3474720" cy="6555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 dirty="0">
                <a:solidFill>
                  <a:srgbClr val="141414"/>
                </a:solidFill>
                <a:latin typeface="Arial"/>
              </a:rPr>
              <a:t>Digital complaints, FIR records, tracking, 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assignment</a:t>
            </a:r>
            <a:r>
              <a:rPr lang="en-US" sz="13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300" b="0" dirty="0">
                <a:solidFill>
                  <a:srgbClr val="141414"/>
                </a:solidFill>
                <a:latin typeface="Arial"/>
              </a:rPr>
              <a:t>supervisory monitoring already exist.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57200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4572000" y="1417320"/>
            <a:ext cx="64008" cy="19202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727448" y="1527048"/>
            <a:ext cx="3474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>
                <a:solidFill>
                  <a:srgbClr val="DAA520"/>
                </a:solidFill>
                <a:latin typeface="Arial"/>
              </a:rPr>
              <a:t>Identified gap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27448" y="1920240"/>
            <a:ext cx="3474720" cy="1325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Publicly documented systems do not identify permissioned blockchain integrity as a core feature.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3566160"/>
            <a:ext cx="76809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4360" y="3566160"/>
            <a:ext cx="64008" cy="1965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49808" y="3675887"/>
            <a:ext cx="74523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  <a:latin typeface="Arial"/>
              </a:rPr>
              <a:t>Project novelty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4069080"/>
            <a:ext cx="7452360" cy="1371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Integration of FIR workflow + permissioned blockchain + SHA 256 integrity checks + role based authorization + auditable evidence metadata.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0982" y="5641847"/>
            <a:ext cx="8100291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Research focus: strengthen integrity verification, 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traceability</a:t>
            </a:r>
            <a:r>
              <a:rPr lang="en-US" sz="1400" b="1" dirty="0" smtClean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 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tamper evident auditing.</a:t>
            </a:r>
          </a:p>
        </p:txBody>
      </p:sp>
    </p:spTree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 and Objectives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94360" y="1417320"/>
            <a:ext cx="7726679" cy="88639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0" dirty="0">
                <a:solidFill>
                  <a:srgbClr val="141414"/>
                </a:solidFill>
                <a:latin typeface="Arial"/>
              </a:rPr>
              <a:t>Centralized police information systems rely on trusted administrators and application level audit logs. The project needs a way to verify who changed a record, when it </a:t>
            </a:r>
            <a:r>
              <a:rPr sz="1800" b="0" dirty="0" smtClean="0">
                <a:solidFill>
                  <a:srgbClr val="141414"/>
                </a:solidFill>
                <a:latin typeface="Arial"/>
              </a:rPr>
              <a:t>changed</a:t>
            </a:r>
            <a:r>
              <a:rPr lang="en-US" sz="18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8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whether related documents were altered.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4360" y="2788920"/>
            <a:ext cx="182880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Core objectives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94360" y="3154680"/>
            <a:ext cx="3703320" cy="2423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Create a role based digital FIR interface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Secure authentication and backend authorization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Integrate Hyperledger Fabric and chaincode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Use SHA 256 for record and document integrity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Track FIRs from registration to closure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26280" y="3154680"/>
            <a:ext cx="3749039" cy="2423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Maintain a chronological audit history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Register evidence metadata and hashes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Provide dashboards and reports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Notify users about important workflow events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Protect confidential information with controlled access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PROPOSED SOLUTION AND METHODOLOGY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Hybrid On Chain and Off Chain Design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" y="1325880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02920" y="132588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58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OFF CHAIN | Sensitive Data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58368" y="1828800"/>
            <a:ext cx="3337560" cy="187128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 dirty="0">
                <a:solidFill>
                  <a:srgbClr val="141414"/>
                </a:solidFill>
                <a:latin typeface="Arial"/>
              </a:rPr>
              <a:t>• Complainant personal data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CNIC and contact information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FIR narrative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Suspect and witness information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Investigation notes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Documents, 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images</a:t>
            </a:r>
            <a:r>
              <a:rPr lang="en-US" sz="13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300" b="0" dirty="0">
                <a:solidFill>
                  <a:srgbClr val="141414"/>
                </a:solidFill>
                <a:latin typeface="Arial"/>
              </a:rPr>
              <a:t>PDFs</a:t>
            </a:r>
            <a:r>
              <a:rPr dirty="0"/>
              <a:t/>
            </a:r>
            <a:br>
              <a:rPr dirty="0"/>
            </a:b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Storage: PostgreSQL + protected file storage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33087" y="2423160"/>
            <a:ext cx="91440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DAA520"/>
                </a:solidFill>
                <a:latin typeface="Arial"/>
              </a:rPr>
              <a:t>SHA 256</a:t>
            </a:r>
          </a:p>
        </p:txBody>
      </p:sp>
      <p:sp>
        <p:nvSpPr>
          <p:cNvPr id="164" name="Chevron 163"/>
          <p:cNvSpPr/>
          <p:nvPr/>
        </p:nvSpPr>
        <p:spPr>
          <a:xfrm>
            <a:off x="4187952" y="2971800"/>
            <a:ext cx="822960" cy="640080"/>
          </a:xfrm>
          <a:prstGeom prst="chevron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5074920" y="1325880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132588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30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ON CHAIN | Integrity Metadata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30368" y="1828800"/>
            <a:ext cx="3337560" cy="374903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FIR identifier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Transaction identifier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Record and document hashes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Operation type and status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Officer / organization identifier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Timestamp and workflow state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Approval and audit events</a:t>
            </a:r>
            <a:r>
              <a:t/>
            </a:r>
            <a:br/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Platform: Hyperledger Fabric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436" y="5715000"/>
            <a:ext cx="8017163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Sensitive information never needs to be stored on the blockchain.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 txBox="1">
            <a:spLocks noGrp="1"/>
          </p:cNvSpPr>
          <p:nvPr>
            <p:ph type="title"/>
          </p:nvPr>
        </p:nvSpPr>
        <p:spPr>
          <a:xfrm>
            <a:off x="722313" y="304799"/>
            <a:ext cx="7772400" cy="700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lang="en-US" sz="2600" dirty="0">
                <a:solidFill>
                  <a:srgbClr val="1F497D"/>
                </a:solidFill>
                <a:latin typeface="Arial"/>
              </a:rPr>
              <a:t>System Architecture and Technology Stack</a:t>
            </a:r>
            <a:endParaRPr sz="26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731520" y="1234440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31520" y="1234440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886968" y="1344168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Presentation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86968" y="1737360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React, TypeScript, Tailwind CSS, Axios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1520" y="2084832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731520" y="2084832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86968" y="2194560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Application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6968" y="2587752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Python, FastAPI, validation, notifications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31520" y="2935224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731520" y="2935224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86968" y="3044952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Data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86968" y="3438144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PostgreSQL + protected file storage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31520" y="3785616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731520" y="3785616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86968" y="3895344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Blockchain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6968" y="4288536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Hyperledger Fabric, peers, CA, MSP, channels, chaincode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31520" y="4636008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731520" y="4636008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86968" y="4745736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Security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86968" y="5138928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Authentication, RBAC, TLS, hashing, access logs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77240" y="5577840"/>
            <a:ext cx="7132320" cy="38404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Methodology: Agile and Scrum inspired, 12 iterative sprints.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1016000" y="4310929"/>
            <a:ext cx="359294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02920" y="1325880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502920" y="1325880"/>
            <a:ext cx="64008" cy="4480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914401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IN SCOPE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8368" y="1828800"/>
            <a:ext cx="3520439" cy="3886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Authentication and identity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Citizen complaint portal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FIR creation, approval, tracking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Police station management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Investigation and officer assignment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Evidence and SHA 256 hashing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Hyperledger Fabric transactions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Audit trail and history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Notifications, analytics, administration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26280" y="1325880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526280" y="1325880"/>
            <a:ext cx="64008" cy="448056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4974274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OUT OF SCOPE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81728" y="1828800"/>
            <a:ext cx="3520439" cy="3886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Live Pakistan Police integration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Real NADRA verification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Real criminal history data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AI based profiling or prediction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Production deployment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Legal authorization of real FIRs</a:t>
            </a:r>
            <a:r>
              <a:t/>
            </a:r>
            <a:br/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All testing uses synthetic or demonstration data.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Work Breakdown Structure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0292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0292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1. Research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8368" y="173736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Requirements, background, gap analysis, planning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15468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3154680" y="123444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2. Design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310128" y="173736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Architecture, database model, workflow, security design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580644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80644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3. Core Development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961888" y="173736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Frontend, FastAPI backend, authentication, FIR modules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0292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58368" y="344728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4. Blockchain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58368" y="384048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Fabric network, chaincode, transactions, integration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15468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3154680" y="333756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3310128" y="344728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5. Evidence + Testing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310128" y="384048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SHA 256, integrity checks, security testing, UI testing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80644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80644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5961888" y="344728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6. Delivery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961888" y="384048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Deployment packaging, documentation, presentation, viva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5532120"/>
            <a:ext cx="7589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Work packages follow the proposal’s 12 sprint development plan.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Roles and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Sharaiz Ahmed | 57288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2286000" cy="2926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System Architecture and Blockchain Lead</a:t>
            </a:r>
            <a:r>
              <a:t/>
            </a:r>
            <a:br/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Architecture and requirements coordination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Hyperledger Fabric and chaincode coordination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Hash and integrity architecture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Security architecture and integration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GitHub and deployment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54680" y="1234440"/>
            <a:ext cx="64008" cy="35204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DAA520"/>
                </a:solidFill>
                <a:latin typeface="Arial"/>
              </a:rPr>
              <a:t>Abdul Moiz | 54482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1737360"/>
            <a:ext cx="2286000" cy="2926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Backend and Database Lead</a:t>
            </a:r>
            <a:r>
              <a:t/>
            </a:r>
            <a:br/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Python and FastAPI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REST APIs and PostgreSQL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Authentication and RBAC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FIR, investigation, evidence APIs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Backend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Basit Ali | 54596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1737360"/>
            <a:ext cx="2286000" cy="2926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Frontend and Testing Lead</a:t>
            </a:r>
            <a:r>
              <a:t/>
            </a:r>
            <a:br/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React and TypeScript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UI and UX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Dashboards and forms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Audit and charts interface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UI and usability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Shared: research, documentation, GitHub, code review, integration, security testing, final report, 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presentation</a:t>
            </a:r>
            <a:r>
              <a:rPr lang="en-US" sz="1400" b="1" dirty="0" smtClean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 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viva preparation.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680960" cy="2926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Academic prototype only, not a production police system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Synthetic or demonstration data only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No NADRA, live police, or government system integration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Small controlled blockchain network for demonstration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Performance and scale testing limited by available student infrastructure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No legally binding digital FIR functionality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572000"/>
            <a:ext cx="749807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4572000"/>
            <a:ext cx="64008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726947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Scope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074920"/>
            <a:ext cx="7269479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The project investigates technical feasibility and does not claim operational or legal deployment.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Expected Benefits and Success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582" y="1344168"/>
            <a:ext cx="3218225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Expected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3520439" cy="374903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Improved record integrity through cryptographic verification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Stronger accountability through RBAC and blockchain audit trails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Clearer visibility into the FIR lifecycle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Tamper evident evidence and document history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Practical demonstration of permissioned blockchain in a public sector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26280" y="123444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50691" y="1353404"/>
            <a:ext cx="3251476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Success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737360"/>
            <a:ext cx="3520439" cy="374903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Authorized users authenticate and roles are enforced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FIRs move through defined workflow states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Evidence hashes are generated and verified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Key operations produce blockchain transactions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History can be retrieved and reconstructed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Unauthorized actions are rejected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End to end prototype works with synthetic data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77240" y="304800"/>
            <a:ext cx="7701742" cy="208672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endParaRPr lang="en-US" sz="2200" b="1" dirty="0" smtClean="0">
              <a:solidFill>
                <a:srgbClr val="1F497D"/>
              </a:solidFill>
              <a:latin typeface="Arial"/>
            </a:endParaRPr>
          </a:p>
          <a:p>
            <a:pPr algn="ctr"/>
            <a:endParaRPr lang="en-US" sz="2200" b="1" dirty="0">
              <a:solidFill>
                <a:srgbClr val="1F497D"/>
              </a:solidFill>
            </a:endParaRPr>
          </a:p>
          <a:p>
            <a:pPr algn="ctr"/>
            <a:endParaRPr lang="en-US" sz="2200" b="1" dirty="0">
              <a:solidFill>
                <a:srgbClr val="1F497D"/>
              </a:solidFill>
            </a:endParaRPr>
          </a:p>
          <a:p>
            <a:pPr algn="ctr"/>
            <a:r>
              <a:rPr sz="2200" b="1" dirty="0" smtClean="0">
                <a:solidFill>
                  <a:srgbClr val="1F497D"/>
                </a:solidFill>
                <a:latin typeface="Arial"/>
              </a:rPr>
              <a:t>Digital FIR combines a conventional secure database with a permissioned </a:t>
            </a:r>
            <a:r>
              <a:rPr sz="2200" b="1" dirty="0" err="1" smtClean="0">
                <a:solidFill>
                  <a:srgbClr val="1F497D"/>
                </a:solidFill>
                <a:latin typeface="Arial"/>
              </a:rPr>
              <a:t>Hyperledger</a:t>
            </a:r>
            <a:r>
              <a:rPr sz="2200" b="1" dirty="0" smtClean="0">
                <a:solidFill>
                  <a:srgbClr val="1F497D"/>
                </a:solidFill>
                <a:latin typeface="Arial"/>
              </a:rPr>
              <a:t> Fabric layer to improve integrity, traceability and auditability of FIR workflows.</a:t>
            </a:r>
            <a:endParaRPr sz="22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14400" y="3163732"/>
            <a:ext cx="6949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3569" y="3163732"/>
            <a:ext cx="64008" cy="11430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3668" y="3189310"/>
            <a:ext cx="672084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634038"/>
            <a:ext cx="6720840" cy="45550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 dirty="0">
                <a:solidFill>
                  <a:srgbClr val="141414"/>
                </a:solidFill>
                <a:latin typeface="Arial"/>
              </a:rPr>
              <a:t>Sensitive information stays off chain. Hashes, transactions, workflow 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events</a:t>
            </a:r>
            <a:r>
              <a:rPr lang="en-US" sz="13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300" b="0" dirty="0">
                <a:solidFill>
                  <a:srgbClr val="141414"/>
                </a:solidFill>
                <a:latin typeface="Arial"/>
              </a:rPr>
              <a:t>integrity metadata provide the verifiable audit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6949440" cy="8229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  <a:latin typeface="Arial"/>
              </a:rPr>
              <a:t>Thank You</a:t>
            </a:r>
            <a:r>
              <a:t/>
            </a:r>
            <a:br/>
            <a:r>
              <a:rPr sz="2400" b="1">
                <a:solidFill>
                  <a:srgbClr val="1F497D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840</Words>
  <Application>Microsoft Office PowerPoint</Application>
  <PresentationFormat>On-screen Show (4:3)</PresentationFormat>
  <Paragraphs>166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Final Year Project Proposal</vt:lpstr>
      <vt:lpstr>Project Team</vt:lpstr>
      <vt:lpstr>Table of Content</vt:lpstr>
      <vt:lpstr>INTRODUCTION AND BACKGROUND</vt:lpstr>
      <vt:lpstr>Introduction and Background</vt:lpstr>
      <vt:lpstr>EXISTING SYSTEMS IN PAKISTAN</vt:lpstr>
      <vt:lpstr>Existing Systems and Comparison</vt:lpstr>
      <vt:lpstr>GAP ANALYSIS</vt:lpstr>
      <vt:lpstr>Research Gap and Novelty</vt:lpstr>
      <vt:lpstr>PROBLEM STATEMENT</vt:lpstr>
      <vt:lpstr>Problem Statement and Objectives</vt:lpstr>
      <vt:lpstr>PROPOSED SOLUTION AND METHODOLOGY</vt:lpstr>
      <vt:lpstr>Hybrid On Chain and Off Chain Design</vt:lpstr>
      <vt:lpstr>System Architecture and Technology Stack</vt:lpstr>
      <vt:lpstr>PROJECT SCOPE</vt:lpstr>
      <vt:lpstr>Project Scope</vt:lpstr>
      <vt:lpstr>Work Breakdown Structure</vt:lpstr>
      <vt:lpstr>Roles and Responsibilities</vt:lpstr>
      <vt:lpstr>CONSTRAINTS AND LIMITATIONS</vt:lpstr>
      <vt:lpstr>Constraints and Limitations</vt:lpstr>
      <vt:lpstr>Expected Benefits and Success Criteria</vt:lpstr>
      <vt:lpstr>CONCLUSION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Microsoft account</cp:lastModifiedBy>
  <cp:revision>8</cp:revision>
  <dcterms:created xsi:type="dcterms:W3CDTF">2013-01-22T07:04:44Z</dcterms:created>
  <dcterms:modified xsi:type="dcterms:W3CDTF">2026-09-13T19:16:03Z</dcterms:modified>
</cp:coreProperties>
</file>