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79" r:id="rId7"/>
    <p:sldId id="262" r:id="rId8"/>
    <p:sldId id="280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gqso+muD7qxSKyk66oXGt+27nM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145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1453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3566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1526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9212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009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61060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0748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6253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79896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039867fdc9_0_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2039867fdc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0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39867fdc9_0_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g2039867fdc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8490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876793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95206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45109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4224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78706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115621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459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8621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algn="ctr"/>
            <a:r>
              <a:rPr sz="3000" b="1">
                <a:solidFill>
                  <a:srgbClr val="1F497D"/>
                </a:solidFill>
                <a:latin typeface="Arial"/>
              </a:rPr>
              <a:t>Final Year Project Proposal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255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Digital FIR</a:t>
            </a:r>
          </a:p>
          <a:p>
            <a:pPr algn="ctr"/>
            <a:r>
              <a:rPr sz="1800" dirty="0">
                <a:solidFill>
                  <a:srgbClr val="141414"/>
                </a:solidFill>
                <a:latin typeface="Arial"/>
              </a:rPr>
              <a:t>A Blockchain Based Secure First Information Report Management </a:t>
            </a:r>
            <a:r>
              <a:rPr sz="1800" dirty="0" smtClean="0">
                <a:solidFill>
                  <a:srgbClr val="141414"/>
                </a:solidFill>
                <a:latin typeface="Arial"/>
              </a:rPr>
              <a:t>System</a:t>
            </a:r>
            <a:endParaRPr lang="en-US" sz="1800" dirty="0" smtClean="0">
              <a:solidFill>
                <a:srgbClr val="141414"/>
              </a:solidFill>
              <a:latin typeface="Arial"/>
            </a:endParaRPr>
          </a:p>
          <a:p>
            <a:pPr algn="ctr"/>
            <a:endParaRPr lang="en-US" sz="1800" b="0" dirty="0" smtClean="0">
              <a:solidFill>
                <a:srgbClr val="141414"/>
              </a:solidFill>
              <a:latin typeface="Arial"/>
            </a:endParaRPr>
          </a:p>
          <a:p>
            <a:pPr algn="ctr"/>
            <a:endParaRPr sz="1800" b="0" dirty="0">
              <a:solidFill>
                <a:srgbClr val="141414"/>
              </a:solidFill>
              <a:latin typeface="Arial"/>
            </a:endParaRPr>
          </a:p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Supervised By: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Tabassum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Javed</a:t>
            </a:r>
            <a:endParaRPr sz="1800" b="0" dirty="0">
              <a:solidFill>
                <a:srgbClr val="141414"/>
              </a:solidFill>
              <a:latin typeface="Arial"/>
            </a:endParaRPr>
          </a:p>
        </p:txBody>
      </p:sp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Team</a:t>
            </a:r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152" tIns="36576" rIns="73152" bIns="36576" anchor="t" anchorCtr="0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Sharaiz Ahmed (57288)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Abdul </a:t>
            </a:r>
            <a:r>
              <a:rPr dirty="0" err="1">
                <a:latin typeface="Arial"/>
              </a:rPr>
              <a:t>Moiz</a:t>
            </a:r>
            <a:r>
              <a:rPr dirty="0">
                <a:latin typeface="Arial"/>
              </a:rPr>
              <a:t> (54482)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 err="1">
                <a:latin typeface="Arial"/>
              </a:rPr>
              <a:t>Basit</a:t>
            </a:r>
            <a:r>
              <a:rPr dirty="0">
                <a:latin typeface="Arial"/>
              </a:rPr>
              <a:t> Ali (54596)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Table of Content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1508760"/>
            <a:ext cx="3749039" cy="421038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Introduction </a:t>
            </a:r>
            <a:r>
              <a:rPr sz="2400" dirty="0">
                <a:latin typeface="Arial"/>
              </a:rPr>
              <a:t>and Background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lang="en-US" sz="2400" dirty="0" smtClean="0">
                <a:latin typeface="Arial"/>
              </a:rPr>
              <a:t>Literature Review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Existing </a:t>
            </a:r>
            <a:r>
              <a:rPr sz="2400" dirty="0">
                <a:latin typeface="Arial"/>
              </a:rPr>
              <a:t>Systems in Pakistan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Gap </a:t>
            </a:r>
            <a:r>
              <a:rPr sz="2400" dirty="0">
                <a:latin typeface="Arial"/>
              </a:rPr>
              <a:t>Analysis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Problem </a:t>
            </a:r>
            <a:r>
              <a:rPr sz="2400" dirty="0">
                <a:latin typeface="Arial"/>
              </a:rPr>
              <a:t>Statement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Proposed </a:t>
            </a:r>
            <a:r>
              <a:rPr sz="2400" dirty="0">
                <a:latin typeface="Arial"/>
              </a:rPr>
              <a:t>Solution and Methodology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System </a:t>
            </a:r>
            <a:r>
              <a:rPr sz="2400" dirty="0">
                <a:latin typeface="Arial"/>
              </a:rPr>
              <a:t>Architecture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1508760"/>
            <a:ext cx="3749039" cy="4133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Project </a:t>
            </a:r>
            <a:r>
              <a:rPr sz="2400" dirty="0">
                <a:latin typeface="Arial"/>
              </a:rPr>
              <a:t>Scope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Work </a:t>
            </a:r>
            <a:r>
              <a:rPr sz="2400" dirty="0">
                <a:latin typeface="Arial"/>
              </a:rPr>
              <a:t>Breakdown Structure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Roles </a:t>
            </a:r>
            <a:r>
              <a:rPr sz="2400" dirty="0">
                <a:latin typeface="Arial"/>
              </a:rPr>
              <a:t>and Responsibilities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Constraints </a:t>
            </a:r>
            <a:r>
              <a:rPr sz="2400" dirty="0">
                <a:latin typeface="Arial"/>
              </a:rPr>
              <a:t>and Limitations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Expected </a:t>
            </a:r>
            <a:r>
              <a:rPr sz="2400" dirty="0">
                <a:latin typeface="Arial"/>
              </a:rPr>
              <a:t>Benefits and Success Criteria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 smtClean="0">
                <a:latin typeface="Arial"/>
              </a:rPr>
              <a:t>Conclusion </a:t>
            </a:r>
            <a:r>
              <a:rPr sz="2400" dirty="0">
                <a:latin typeface="Arial"/>
              </a:rPr>
              <a:t>and Q&amp;A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694606" y="4581242"/>
            <a:ext cx="7772400" cy="481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436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" y="150876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4980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is an FIR?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An FIR formally opens the criminal justice process. It records the reported offence, identifies the 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parties</a:t>
            </a:r>
            <a:r>
              <a:rPr lang="en-US" sz="16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starts investigation.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4572000" y="1508760"/>
            <a:ext cx="64008" cy="1874519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72744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Current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2744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Punjab, 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Sindh</a:t>
            </a:r>
            <a:r>
              <a:rPr lang="en-US" sz="16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KP already use digital complaint and record systems. The project does not aim to replace these systems.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3611880"/>
            <a:ext cx="772667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94360" y="361188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49808" y="3721608"/>
            <a:ext cx="74980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this project adds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114800"/>
            <a:ext cx="74980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 permissioned </a:t>
            </a:r>
            <a:r>
              <a:rPr sz="1600"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Fabric layer for integrity, 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traceability</a:t>
            </a:r>
            <a:r>
              <a:rPr lang="en-US" sz="16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tamper evident auditing, while sensitive FIR data stays off chain.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IN PAKISTAN</a:t>
            </a:r>
          </a:p>
        </p:txBody>
      </p:sp>
    </p:spTree>
    <p:extLst>
      <p:ext uri="{BB962C8B-B14F-4D97-AF65-F5344CB8AC3E}">
        <p14:creationId xmlns:p14="http://schemas.microsoft.com/office/powerpoint/2010/main" val="133781534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and Comparison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976616"/>
              </p:ext>
            </p:extLst>
          </p:nvPr>
        </p:nvGraphicFramePr>
        <p:xfrm>
          <a:off x="411480" y="1417320"/>
          <a:ext cx="83210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43000"/>
                <a:gridCol w="1143000"/>
                <a:gridCol w="1143000"/>
                <a:gridCol w="260604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Punjab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Sindh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KP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Digital FIR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complaint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FIR / case records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Case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Officer assignment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Document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SHA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Permissioned blockchain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Tamper evident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Blockchain +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48"/>
          <p:cNvSpPr txBox="1"/>
          <p:nvPr/>
        </p:nvSpPr>
        <p:spPr>
          <a:xfrm>
            <a:off x="457200" y="254470"/>
            <a:ext cx="8335818" cy="548816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Digital police systems are already being used in Punjab, </a:t>
            </a:r>
            <a:r>
              <a:rPr lang="en-US" sz="1600" dirty="0" smtClean="0"/>
              <a:t>Sindh and </a:t>
            </a:r>
            <a:r>
              <a:rPr lang="en-US" sz="1600" dirty="0"/>
              <a:t>Khyber Pakhtunkhwa for complaints, FIR records, case </a:t>
            </a:r>
            <a:r>
              <a:rPr lang="en-US" sz="1600" dirty="0" smtClean="0"/>
              <a:t>tracking </a:t>
            </a:r>
            <a:r>
              <a:rPr lang="en-US" sz="1600" dirty="0"/>
              <a:t>and officer management.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These systems have improved the way police records are created, </a:t>
            </a:r>
            <a:r>
              <a:rPr lang="en-US" sz="1600" dirty="0" smtClean="0"/>
              <a:t>stored and </a:t>
            </a:r>
            <a:r>
              <a:rPr lang="en-US" sz="1600" dirty="0"/>
              <a:t>accessed.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However, most existing systems mainly depend on centralized databases and conventional audit logs.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Blockchain can provide a more reliable way to maintain a tamper-evident history of important FIR activities.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SHA-256 hashing can be used to check whether FIR documents or evidence have been changed.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A permissioned blockchain is more suitable for police data because access can be restricted to authorized organizations and officers.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Based on the reviewed systems, there is an opportunity to combine digital FIR management, blockchain, hashing, </a:t>
            </a:r>
            <a:r>
              <a:rPr lang="en-US" sz="1600" dirty="0" smtClean="0"/>
              <a:t>RBAC and </a:t>
            </a:r>
            <a:r>
              <a:rPr lang="en-US" sz="1600" dirty="0"/>
              <a:t>audit tracking in one system.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498521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039867fdc9_0_1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GAP ANALYSIS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039867fdc9_0_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Research Gap and Novelty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Existing capability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003364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Digital complaints, FIR records, tracking, 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assignment</a:t>
            </a:r>
            <a:r>
              <a:rPr lang="en-US" sz="16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supervisory monitoring already exist.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7200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4572000" y="1417320"/>
            <a:ext cx="64008" cy="19202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72744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Identified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27448" y="2012603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Publicly documented systems do not identify permissioned blockchain integrity as a core feature.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3566160"/>
            <a:ext cx="76809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4360" y="3566160"/>
            <a:ext cx="64008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9808" y="3675887"/>
            <a:ext cx="745236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Project novelty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4170677"/>
            <a:ext cx="745236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dirty="0">
                <a:solidFill>
                  <a:srgbClr val="141414"/>
                </a:solidFill>
                <a:latin typeface="Arial"/>
              </a:rPr>
              <a:t>Integration of FIR workflow + permissioned blockchain + SHA 256 integrity checks + role based authorization + auditable evidence metadata.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0982" y="5595667"/>
            <a:ext cx="8100291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Research focus: strengthen integrity verification,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traceability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tamper evident auditing.</a:t>
            </a:r>
          </a:p>
        </p:txBody>
      </p:sp>
    </p:spTree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Problem Statement and Objectives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1269542"/>
            <a:ext cx="7726679" cy="12505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dirty="0">
                <a:solidFill>
                  <a:srgbClr val="141414"/>
                </a:solidFill>
                <a:latin typeface="Arial"/>
              </a:rPr>
              <a:t>Centralized police information systems rely on trusted administrators and application level audit logs. The project needs a way to verify who changed a record, when it 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changed</a:t>
            </a:r>
            <a:r>
              <a:rPr lang="en-US" sz="18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whether related documents were altered.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Core objectives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4360" y="3154680"/>
            <a:ext cx="3703320" cy="272279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Create </a:t>
            </a:r>
            <a:r>
              <a:rPr sz="1600" dirty="0">
                <a:latin typeface="Arial"/>
              </a:rPr>
              <a:t>a role based digital FIR interface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Secure </a:t>
            </a:r>
            <a:r>
              <a:rPr sz="1600" dirty="0">
                <a:latin typeface="Arial"/>
              </a:rPr>
              <a:t>authentication and backend authorization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Integrate </a:t>
            </a:r>
            <a:r>
              <a:rPr sz="1600" dirty="0" err="1">
                <a:latin typeface="Arial"/>
              </a:rPr>
              <a:t>Hyperledger</a:t>
            </a:r>
            <a:r>
              <a:rPr sz="1600" dirty="0">
                <a:latin typeface="Arial"/>
              </a:rPr>
              <a:t> Fabric and </a:t>
            </a:r>
            <a:r>
              <a:rPr sz="1600" dirty="0" err="1">
                <a:latin typeface="Arial"/>
              </a:rPr>
              <a:t>chaincode</a:t>
            </a:r>
            <a:endParaRPr sz="1600" dirty="0">
              <a:latin typeface="Arial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Use </a:t>
            </a:r>
            <a:r>
              <a:rPr sz="1600" dirty="0">
                <a:latin typeface="Arial"/>
              </a:rPr>
              <a:t>SHA 256 for record and document integrity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Track </a:t>
            </a:r>
            <a:r>
              <a:rPr sz="1600" dirty="0">
                <a:latin typeface="Arial"/>
              </a:rPr>
              <a:t>FIRs from registration to closure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26280" y="3154680"/>
            <a:ext cx="3749039" cy="22303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Maintain </a:t>
            </a:r>
            <a:r>
              <a:rPr sz="1600" dirty="0">
                <a:latin typeface="Arial"/>
              </a:rPr>
              <a:t>a chronological audit history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Register </a:t>
            </a:r>
            <a:r>
              <a:rPr sz="1600" dirty="0">
                <a:latin typeface="Arial"/>
              </a:rPr>
              <a:t>evidence metadata and hashes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Provide </a:t>
            </a:r>
            <a:r>
              <a:rPr sz="1600" dirty="0">
                <a:latin typeface="Arial"/>
              </a:rPr>
              <a:t>dashboards and reports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Notify </a:t>
            </a:r>
            <a:r>
              <a:rPr sz="1600" dirty="0">
                <a:latin typeface="Arial"/>
              </a:rPr>
              <a:t>users about important workflow events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 smtClean="0">
                <a:latin typeface="Arial"/>
              </a:rPr>
              <a:t>Protect </a:t>
            </a:r>
            <a:r>
              <a:rPr sz="1600" dirty="0">
                <a:latin typeface="Arial"/>
              </a:rPr>
              <a:t>confidential information with controlled access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PROPOSED SOLUTION AND METHODOLOGY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Hybrid On Chain and Off Chain Design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" y="122428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2920" y="1261228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58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OFF CHAIN | Sensitive Data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8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Complainant </a:t>
            </a:r>
            <a:r>
              <a:rPr sz="1600" b="0" dirty="0">
                <a:solidFill>
                  <a:srgbClr val="141414"/>
                </a:solidFill>
              </a:rPr>
              <a:t>personal </a:t>
            </a:r>
            <a:r>
              <a:rPr sz="1600" b="0" dirty="0" smtClean="0">
                <a:solidFill>
                  <a:srgbClr val="141414"/>
                </a:solidFill>
              </a:rPr>
              <a:t>data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CNIC </a:t>
            </a:r>
            <a:r>
              <a:rPr sz="1600" b="0" dirty="0">
                <a:solidFill>
                  <a:srgbClr val="141414"/>
                </a:solidFill>
              </a:rPr>
              <a:t>and contact </a:t>
            </a:r>
            <a:r>
              <a:rPr sz="1600" b="0" dirty="0" smtClean="0">
                <a:solidFill>
                  <a:srgbClr val="141414"/>
                </a:solidFill>
              </a:rPr>
              <a:t>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FIR narrative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Suspect </a:t>
            </a:r>
            <a:r>
              <a:rPr sz="1600" b="0" dirty="0">
                <a:solidFill>
                  <a:srgbClr val="141414"/>
                </a:solidFill>
              </a:rPr>
              <a:t>and witness </a:t>
            </a:r>
            <a:r>
              <a:rPr sz="1600" b="0" dirty="0" smtClean="0">
                <a:solidFill>
                  <a:srgbClr val="141414"/>
                </a:solidFill>
              </a:rPr>
              <a:t>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Investigation notes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Documents</a:t>
            </a:r>
            <a:r>
              <a:rPr sz="1600" b="0" dirty="0">
                <a:solidFill>
                  <a:srgbClr val="141414"/>
                </a:solidFill>
              </a:rPr>
              <a:t>, </a:t>
            </a:r>
            <a:r>
              <a:rPr sz="1600" b="0" dirty="0" smtClean="0">
                <a:solidFill>
                  <a:srgbClr val="141414"/>
                </a:solidFill>
              </a:rPr>
              <a:t>images</a:t>
            </a:r>
            <a:r>
              <a:rPr lang="en-US" sz="1600" b="0" dirty="0" smtClean="0">
                <a:solidFill>
                  <a:srgbClr val="141414"/>
                </a:solidFill>
              </a:rPr>
              <a:t> and</a:t>
            </a:r>
            <a:r>
              <a:rPr sz="1600" b="0" dirty="0" smtClean="0">
                <a:solidFill>
                  <a:srgbClr val="141414"/>
                </a:solidFill>
              </a:rPr>
              <a:t> </a:t>
            </a:r>
            <a:r>
              <a:rPr sz="1600" b="0" dirty="0">
                <a:solidFill>
                  <a:srgbClr val="141414"/>
                </a:solidFill>
              </a:rPr>
              <a:t>PDFs</a:t>
            </a:r>
            <a:r>
              <a:rPr sz="1600" dirty="0"/>
              <a:t/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Storage:</a:t>
            </a:r>
            <a:r>
              <a:rPr sz="1600" b="0" dirty="0">
                <a:solidFill>
                  <a:srgbClr val="141414"/>
                </a:solidFill>
              </a:rPr>
              <a:t> PostgreSQL + protected file storage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33087" y="2423160"/>
            <a:ext cx="91440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DAA520"/>
                </a:solidFill>
                <a:latin typeface="Arial"/>
              </a:rPr>
              <a:t>SHA 256</a:t>
            </a:r>
          </a:p>
        </p:txBody>
      </p:sp>
      <p:sp>
        <p:nvSpPr>
          <p:cNvPr id="164" name="Chevron 163"/>
          <p:cNvSpPr/>
          <p:nvPr/>
        </p:nvSpPr>
        <p:spPr>
          <a:xfrm>
            <a:off x="4187952" y="2971800"/>
            <a:ext cx="822960" cy="640080"/>
          </a:xfrm>
          <a:prstGeom prst="chevron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5074920" y="117810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1196576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30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ON CHAIN | Integrity Metadata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30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FIR identifier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Transaction identifier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Record </a:t>
            </a:r>
            <a:r>
              <a:rPr sz="1600" b="0" dirty="0">
                <a:solidFill>
                  <a:srgbClr val="141414"/>
                </a:solidFill>
              </a:rPr>
              <a:t>and document </a:t>
            </a:r>
            <a:r>
              <a:rPr sz="1600" b="0" dirty="0" smtClean="0">
                <a:solidFill>
                  <a:srgbClr val="141414"/>
                </a:solidFill>
              </a:rPr>
              <a:t>hashes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Operation </a:t>
            </a:r>
            <a:r>
              <a:rPr sz="1600" b="0" dirty="0">
                <a:solidFill>
                  <a:srgbClr val="141414"/>
                </a:solidFill>
              </a:rPr>
              <a:t>type and </a:t>
            </a:r>
            <a:r>
              <a:rPr sz="1600" b="0" dirty="0" smtClean="0">
                <a:solidFill>
                  <a:srgbClr val="141414"/>
                </a:solidFill>
              </a:rPr>
              <a:t>status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Officer </a:t>
            </a:r>
            <a:r>
              <a:rPr sz="1600" b="0" dirty="0">
                <a:solidFill>
                  <a:srgbClr val="141414"/>
                </a:solidFill>
              </a:rPr>
              <a:t>/ organization </a:t>
            </a:r>
            <a:r>
              <a:rPr sz="1600" b="0" dirty="0" smtClean="0">
                <a:solidFill>
                  <a:srgbClr val="141414"/>
                </a:solidFill>
              </a:rPr>
              <a:t>identifier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Timestamp </a:t>
            </a:r>
            <a:r>
              <a:rPr sz="1600" b="0" dirty="0">
                <a:solidFill>
                  <a:srgbClr val="141414"/>
                </a:solidFill>
              </a:rPr>
              <a:t>and workflow </a:t>
            </a:r>
            <a:r>
              <a:rPr sz="1600" b="0" dirty="0" smtClean="0">
                <a:solidFill>
                  <a:srgbClr val="141414"/>
                </a:solidFill>
              </a:rPr>
              <a:t>state</a:t>
            </a:r>
            <a:endParaRPr lang="en-US" sz="16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 smtClean="0">
                <a:solidFill>
                  <a:srgbClr val="141414"/>
                </a:solidFill>
              </a:rPr>
              <a:t>Approval </a:t>
            </a:r>
            <a:r>
              <a:rPr sz="1600" b="0" dirty="0">
                <a:solidFill>
                  <a:srgbClr val="141414"/>
                </a:solidFill>
              </a:rPr>
              <a:t>and audit events</a:t>
            </a:r>
            <a:r>
              <a:rPr sz="1600" dirty="0"/>
              <a:t/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Platform:</a:t>
            </a:r>
            <a:r>
              <a:rPr sz="1600" b="0" dirty="0">
                <a:solidFill>
                  <a:srgbClr val="141414"/>
                </a:solidFill>
              </a:rPr>
              <a:t> </a:t>
            </a:r>
            <a:r>
              <a:rPr sz="1600" b="0" dirty="0" err="1">
                <a:solidFill>
                  <a:srgbClr val="141414"/>
                </a:solidFill>
              </a:rPr>
              <a:t>Hyperledger</a:t>
            </a:r>
            <a:r>
              <a:rPr sz="1600" b="0" dirty="0">
                <a:solidFill>
                  <a:srgbClr val="141414"/>
                </a:solidFill>
              </a:rPr>
              <a:t> Fabric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437" y="5678056"/>
            <a:ext cx="6742546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Sensitive information never needs to be stored on the blockchain.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>
            <a:spLocks noGrp="1"/>
          </p:cNvSpPr>
          <p:nvPr>
            <p:ph type="title"/>
          </p:nvPr>
        </p:nvSpPr>
        <p:spPr>
          <a:xfrm>
            <a:off x="722313" y="304799"/>
            <a:ext cx="7772400" cy="70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lang="en-US" sz="2600" dirty="0">
                <a:solidFill>
                  <a:srgbClr val="1F497D"/>
                </a:solidFill>
                <a:latin typeface="Arial"/>
              </a:rPr>
              <a:t>System Architecture and Technology Stack</a:t>
            </a:r>
            <a:endParaRPr sz="26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731520" y="1234440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1520" y="1234440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886968" y="1344168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Presentation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14676" y="1654236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React,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TypeScript</a:t>
            </a:r>
            <a:r>
              <a:rPr b="0" dirty="0">
                <a:solidFill>
                  <a:srgbClr val="141414"/>
                </a:solidFill>
                <a:latin typeface="Arial"/>
              </a:rPr>
              <a:t>, Tailwind CSS,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Axios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731520" y="2084832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31520" y="2084832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86968" y="2194560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Application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676" y="250462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Python,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>
                <a:solidFill>
                  <a:srgbClr val="141414"/>
                </a:solidFill>
                <a:latin typeface="Arial"/>
              </a:rPr>
              <a:t>, validation, notifications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31520" y="2935224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731520" y="2935224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86968" y="3044952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Data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14676" y="335502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PostgreSQL + protected file storage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31520" y="3785616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731520" y="3785616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86968" y="3895344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Blockchain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3148" y="421464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b="0" dirty="0">
                <a:solidFill>
                  <a:srgbClr val="141414"/>
                </a:solidFill>
                <a:latin typeface="Arial"/>
              </a:rPr>
              <a:t> Fabric, peers, CA, MSP, channels,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731520" y="4636008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731520" y="4636008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86968" y="4745736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Security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86968" y="506504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Authentication, RBAC, TLS, hashing, access logs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577840"/>
            <a:ext cx="7132320" cy="38404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Methodology: Agile and Scrum inspired, 12 iterative sprints.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1016000" y="4310929"/>
            <a:ext cx="359294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0292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2920" y="1325880"/>
            <a:ext cx="64008" cy="4480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914401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IN SCOPE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8368" y="1828800"/>
            <a:ext cx="3520439" cy="36023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Authentication </a:t>
            </a:r>
            <a:r>
              <a:rPr sz="1550" b="0" dirty="0">
                <a:solidFill>
                  <a:srgbClr val="141414"/>
                </a:solidFill>
              </a:rPr>
              <a:t>and </a:t>
            </a:r>
            <a:r>
              <a:rPr sz="1550" b="0" dirty="0" smtClean="0">
                <a:solidFill>
                  <a:srgbClr val="141414"/>
                </a:solidFill>
              </a:rPr>
              <a:t>identity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Citizen </a:t>
            </a:r>
            <a:r>
              <a:rPr sz="1550" b="0" dirty="0">
                <a:solidFill>
                  <a:srgbClr val="141414"/>
                </a:solidFill>
              </a:rPr>
              <a:t>complaint </a:t>
            </a:r>
            <a:r>
              <a:rPr sz="1550" b="0" dirty="0" smtClean="0">
                <a:solidFill>
                  <a:srgbClr val="141414"/>
                </a:solidFill>
              </a:rPr>
              <a:t>portal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FIR </a:t>
            </a:r>
            <a:r>
              <a:rPr sz="1550" b="0" dirty="0">
                <a:solidFill>
                  <a:srgbClr val="141414"/>
                </a:solidFill>
              </a:rPr>
              <a:t>creation, approval, </a:t>
            </a:r>
            <a:r>
              <a:rPr sz="1550" b="0" dirty="0" smtClean="0">
                <a:solidFill>
                  <a:srgbClr val="141414"/>
                </a:solidFill>
              </a:rPr>
              <a:t>tracking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Police </a:t>
            </a:r>
            <a:r>
              <a:rPr sz="1550" b="0" dirty="0">
                <a:solidFill>
                  <a:srgbClr val="141414"/>
                </a:solidFill>
              </a:rPr>
              <a:t>station </a:t>
            </a:r>
            <a:r>
              <a:rPr sz="1550" b="0" dirty="0" smtClean="0">
                <a:solidFill>
                  <a:srgbClr val="141414"/>
                </a:solidFill>
              </a:rPr>
              <a:t>management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Investigation </a:t>
            </a:r>
            <a:r>
              <a:rPr sz="1550" b="0" dirty="0">
                <a:solidFill>
                  <a:srgbClr val="141414"/>
                </a:solidFill>
              </a:rPr>
              <a:t>and officer </a:t>
            </a:r>
            <a:r>
              <a:rPr sz="1550" b="0" dirty="0" smtClean="0">
                <a:solidFill>
                  <a:srgbClr val="141414"/>
                </a:solidFill>
              </a:rPr>
              <a:t>assignment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Evidence </a:t>
            </a:r>
            <a:r>
              <a:rPr sz="1550" b="0" dirty="0">
                <a:solidFill>
                  <a:srgbClr val="141414"/>
                </a:solidFill>
              </a:rPr>
              <a:t>and SHA 256 </a:t>
            </a:r>
            <a:r>
              <a:rPr sz="1550" b="0" dirty="0" smtClean="0">
                <a:solidFill>
                  <a:srgbClr val="141414"/>
                </a:solidFill>
              </a:rPr>
              <a:t>hashing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err="1" smtClean="0">
                <a:solidFill>
                  <a:srgbClr val="141414"/>
                </a:solidFill>
              </a:rPr>
              <a:t>Hyperledger</a:t>
            </a:r>
            <a:r>
              <a:rPr sz="1550" b="0" dirty="0" smtClean="0">
                <a:solidFill>
                  <a:srgbClr val="141414"/>
                </a:solidFill>
              </a:rPr>
              <a:t> </a:t>
            </a:r>
            <a:r>
              <a:rPr sz="1550" b="0" dirty="0">
                <a:solidFill>
                  <a:srgbClr val="141414"/>
                </a:solidFill>
              </a:rPr>
              <a:t>Fabric </a:t>
            </a:r>
            <a:r>
              <a:rPr sz="1550" b="0" dirty="0" smtClean="0">
                <a:solidFill>
                  <a:srgbClr val="141414"/>
                </a:solidFill>
              </a:rPr>
              <a:t>transactions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Audit </a:t>
            </a:r>
            <a:r>
              <a:rPr sz="1550" b="0" dirty="0">
                <a:solidFill>
                  <a:srgbClr val="141414"/>
                </a:solidFill>
              </a:rPr>
              <a:t>trail and </a:t>
            </a:r>
            <a:r>
              <a:rPr sz="1550" b="0" dirty="0" smtClean="0">
                <a:solidFill>
                  <a:srgbClr val="141414"/>
                </a:solidFill>
              </a:rPr>
              <a:t>history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Notifications</a:t>
            </a:r>
            <a:r>
              <a:rPr sz="1550" b="0" dirty="0">
                <a:solidFill>
                  <a:srgbClr val="141414"/>
                </a:solidFill>
              </a:rPr>
              <a:t>, analytics, administration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26280" y="1335116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526280" y="1325880"/>
            <a:ext cx="64008" cy="448056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4974274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OUT OF SCOPE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81728" y="1828800"/>
            <a:ext cx="3520439" cy="279845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Live </a:t>
            </a:r>
            <a:r>
              <a:rPr sz="1550" b="0" dirty="0">
                <a:solidFill>
                  <a:srgbClr val="141414"/>
                </a:solidFill>
              </a:rPr>
              <a:t>Pakistan Police </a:t>
            </a:r>
            <a:r>
              <a:rPr sz="1550" b="0" dirty="0" smtClean="0">
                <a:solidFill>
                  <a:srgbClr val="141414"/>
                </a:solidFill>
              </a:rPr>
              <a:t>integration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Real </a:t>
            </a:r>
            <a:r>
              <a:rPr sz="1550" b="0" dirty="0">
                <a:solidFill>
                  <a:srgbClr val="141414"/>
                </a:solidFill>
              </a:rPr>
              <a:t>NADRA </a:t>
            </a:r>
            <a:r>
              <a:rPr sz="1550" b="0" dirty="0" smtClean="0">
                <a:solidFill>
                  <a:srgbClr val="141414"/>
                </a:solidFill>
              </a:rPr>
              <a:t>verification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Real </a:t>
            </a:r>
            <a:r>
              <a:rPr sz="1550" b="0" dirty="0">
                <a:solidFill>
                  <a:srgbClr val="141414"/>
                </a:solidFill>
              </a:rPr>
              <a:t>criminal history </a:t>
            </a:r>
            <a:r>
              <a:rPr sz="1550" b="0" dirty="0" smtClean="0">
                <a:solidFill>
                  <a:srgbClr val="141414"/>
                </a:solidFill>
              </a:rPr>
              <a:t>data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AI </a:t>
            </a:r>
            <a:r>
              <a:rPr sz="1550" b="0" dirty="0">
                <a:solidFill>
                  <a:srgbClr val="141414"/>
                </a:solidFill>
              </a:rPr>
              <a:t>based profiling or </a:t>
            </a:r>
            <a:r>
              <a:rPr sz="1550" b="0" dirty="0" smtClean="0">
                <a:solidFill>
                  <a:srgbClr val="141414"/>
                </a:solidFill>
              </a:rPr>
              <a:t>prediction</a:t>
            </a:r>
            <a:endParaRPr lang="en-US" sz="155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Production deployment</a:t>
            </a:r>
            <a:endParaRPr lang="en-US" sz="155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50" b="0" dirty="0" smtClean="0">
                <a:solidFill>
                  <a:srgbClr val="141414"/>
                </a:solidFill>
              </a:rPr>
              <a:t>Legal </a:t>
            </a:r>
            <a:r>
              <a:rPr sz="1550" b="0" dirty="0">
                <a:solidFill>
                  <a:srgbClr val="141414"/>
                </a:solidFill>
              </a:rPr>
              <a:t>authorization of real FIRs</a:t>
            </a:r>
            <a:r>
              <a:rPr sz="1550" dirty="0"/>
              <a:t/>
            </a:r>
            <a:br>
              <a:rPr sz="1550" dirty="0"/>
            </a:br>
            <a:r>
              <a:rPr sz="1550" dirty="0"/>
              <a:t/>
            </a:r>
            <a:br>
              <a:rPr sz="1550" dirty="0"/>
            </a:br>
            <a:r>
              <a:rPr sz="1550" b="1" dirty="0">
                <a:solidFill>
                  <a:srgbClr val="141414"/>
                </a:solidFill>
              </a:rPr>
              <a:t>All testing uses synthetic or demonstration data.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Work Breakdown Structure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0292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65836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1. Research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836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Requirements, background, gap analysis, planning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15468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3154680" y="123444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331012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2. Design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310128" y="173736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Architecture, database model, workflow, security design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580644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0644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596188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3. Core Development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96188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 smtClean="0">
                <a:solidFill>
                  <a:srgbClr val="141414"/>
                </a:solidFill>
                <a:latin typeface="Arial"/>
              </a:rPr>
              <a:t>Frontend, </a:t>
            </a:r>
            <a:r>
              <a:rPr b="0" dirty="0" err="1" smtClean="0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 smtClean="0">
                <a:solidFill>
                  <a:srgbClr val="141414"/>
                </a:solidFill>
                <a:latin typeface="Arial"/>
              </a:rPr>
              <a:t> backend, authentication, FIR modules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95" name="Rounded Rectangle 194"/>
          <p:cNvSpPr/>
          <p:nvPr/>
        </p:nvSpPr>
        <p:spPr>
          <a:xfrm>
            <a:off x="50292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292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5836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4. Blockchain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836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Fabric network,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r>
              <a:rPr b="0" dirty="0">
                <a:solidFill>
                  <a:srgbClr val="141414"/>
                </a:solidFill>
                <a:latin typeface="Arial"/>
              </a:rPr>
              <a:t>, transactions, integration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15468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3154680" y="333756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331012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5. Evidence + Testing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31012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SHA 256, integrity checks, security testing, UI testing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80644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80644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96188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6. Delivery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61888" y="384048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Deployment packaging, documentation, presentation, viva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5532120"/>
            <a:ext cx="7589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Work packages follow the proposal’s 12 sprint development plan.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Roles and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Sharaiz Ahmed | 57288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2286000" cy="282538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System Architecture and Blockchain </a:t>
            </a:r>
            <a:r>
              <a:rPr sz="1300" b="1" dirty="0" smtClean="0">
                <a:solidFill>
                  <a:srgbClr val="141414"/>
                </a:solidFill>
              </a:rPr>
              <a:t>Lead</a:t>
            </a:r>
            <a:endParaRPr lang="en-US" sz="1600" b="0" dirty="0">
              <a:solidFill>
                <a:srgbClr val="141414"/>
              </a:solidFill>
              <a:latin typeface="Arial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smtClean="0">
                <a:solidFill>
                  <a:srgbClr val="141414"/>
                </a:solidFill>
              </a:rPr>
              <a:t>Architecture </a:t>
            </a:r>
            <a:r>
              <a:rPr b="0" dirty="0">
                <a:solidFill>
                  <a:srgbClr val="141414"/>
                </a:solidFill>
              </a:rPr>
              <a:t>and requirements </a:t>
            </a:r>
            <a:r>
              <a:rPr b="0" dirty="0" smtClean="0">
                <a:solidFill>
                  <a:srgbClr val="141414"/>
                </a:solidFill>
              </a:rPr>
              <a:t>coordination</a:t>
            </a:r>
            <a:endParaRPr lang="en-US" dirty="0" smtClean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err="1" smtClean="0">
                <a:solidFill>
                  <a:srgbClr val="141414"/>
                </a:solidFill>
              </a:rPr>
              <a:t>Hyperledger</a:t>
            </a:r>
            <a:r>
              <a:rPr b="0" dirty="0" smtClean="0">
                <a:solidFill>
                  <a:srgbClr val="141414"/>
                </a:solidFill>
              </a:rPr>
              <a:t> </a:t>
            </a:r>
            <a:r>
              <a:rPr b="0" dirty="0">
                <a:solidFill>
                  <a:srgbClr val="141414"/>
                </a:solidFill>
              </a:rPr>
              <a:t>Fabric and </a:t>
            </a:r>
            <a:r>
              <a:rPr b="0" dirty="0" err="1">
                <a:solidFill>
                  <a:srgbClr val="141414"/>
                </a:solidFill>
              </a:rPr>
              <a:t>chaincode</a:t>
            </a:r>
            <a:r>
              <a:rPr b="0" dirty="0">
                <a:solidFill>
                  <a:srgbClr val="141414"/>
                </a:solidFill>
              </a:rPr>
              <a:t> </a:t>
            </a:r>
            <a:r>
              <a:rPr b="0" dirty="0" smtClean="0">
                <a:solidFill>
                  <a:srgbClr val="141414"/>
                </a:solidFill>
              </a:rPr>
              <a:t>coordination</a:t>
            </a:r>
            <a:endParaRPr lang="en-US" dirty="0" smtClean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smtClean="0">
                <a:solidFill>
                  <a:srgbClr val="141414"/>
                </a:solidFill>
              </a:rPr>
              <a:t>Hash </a:t>
            </a:r>
            <a:r>
              <a:rPr b="0" dirty="0">
                <a:solidFill>
                  <a:srgbClr val="141414"/>
                </a:solidFill>
              </a:rPr>
              <a:t>and integrity </a:t>
            </a:r>
            <a:r>
              <a:rPr b="0" dirty="0" smtClean="0">
                <a:solidFill>
                  <a:srgbClr val="141414"/>
                </a:solidFill>
              </a:rPr>
              <a:t>architecture</a:t>
            </a:r>
            <a:endParaRPr lang="en-US" dirty="0" smtClean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smtClean="0">
                <a:solidFill>
                  <a:srgbClr val="141414"/>
                </a:solidFill>
              </a:rPr>
              <a:t>Security </a:t>
            </a:r>
            <a:r>
              <a:rPr b="0" dirty="0">
                <a:solidFill>
                  <a:srgbClr val="141414"/>
                </a:solidFill>
              </a:rPr>
              <a:t>architecture and </a:t>
            </a:r>
            <a:r>
              <a:rPr b="0" dirty="0" smtClean="0">
                <a:solidFill>
                  <a:srgbClr val="141414"/>
                </a:solidFill>
              </a:rPr>
              <a:t>integration</a:t>
            </a:r>
            <a:endParaRPr lang="en-US" dirty="0" smtClean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smtClean="0">
                <a:solidFill>
                  <a:srgbClr val="141414"/>
                </a:solidFill>
              </a:rPr>
              <a:t>GitHub </a:t>
            </a:r>
            <a:r>
              <a:rPr b="0" dirty="0">
                <a:solidFill>
                  <a:srgbClr val="141414"/>
                </a:solidFill>
              </a:rPr>
              <a:t>and deployment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4680" y="1234440"/>
            <a:ext cx="64008" cy="35204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DAA520"/>
                </a:solidFill>
                <a:latin typeface="Arial"/>
              </a:rPr>
              <a:t>Abdul Moiz | 54482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1737360"/>
            <a:ext cx="2286000" cy="27715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Backend and Database </a:t>
            </a:r>
            <a:r>
              <a:rPr sz="1300" b="1" dirty="0" smtClean="0">
                <a:solidFill>
                  <a:srgbClr val="141414"/>
                </a:solidFill>
              </a:rPr>
              <a:t>Lead</a:t>
            </a:r>
            <a:endParaRPr lang="en-US" sz="1300" b="1" dirty="0" smtClean="0"/>
          </a:p>
          <a:p>
            <a:pPr algn="l"/>
            <a:endParaRPr lang="en-US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Python </a:t>
            </a:r>
            <a:r>
              <a:rPr sz="1300" b="0" dirty="0">
                <a:solidFill>
                  <a:srgbClr val="141414"/>
                </a:solidFill>
              </a:rPr>
              <a:t>and </a:t>
            </a:r>
            <a:r>
              <a:rPr sz="1300" b="0" dirty="0" err="1" smtClean="0">
                <a:solidFill>
                  <a:srgbClr val="141414"/>
                </a:solidFill>
              </a:rPr>
              <a:t>FastAPI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REST </a:t>
            </a:r>
            <a:r>
              <a:rPr sz="1300" b="0" dirty="0">
                <a:solidFill>
                  <a:srgbClr val="141414"/>
                </a:solidFill>
              </a:rPr>
              <a:t>APIs and </a:t>
            </a:r>
            <a:r>
              <a:rPr sz="1300" b="0" dirty="0" smtClean="0">
                <a:solidFill>
                  <a:srgbClr val="141414"/>
                </a:solidFill>
              </a:rPr>
              <a:t>PostgreSQL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Authentication </a:t>
            </a:r>
            <a:r>
              <a:rPr sz="1300" b="0" dirty="0">
                <a:solidFill>
                  <a:srgbClr val="141414"/>
                </a:solidFill>
              </a:rPr>
              <a:t>and </a:t>
            </a:r>
            <a:r>
              <a:rPr sz="1300" b="0" dirty="0" smtClean="0">
                <a:solidFill>
                  <a:srgbClr val="141414"/>
                </a:solidFill>
              </a:rPr>
              <a:t>RBAC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FIR</a:t>
            </a:r>
            <a:r>
              <a:rPr sz="1300" b="0" dirty="0">
                <a:solidFill>
                  <a:srgbClr val="141414"/>
                </a:solidFill>
              </a:rPr>
              <a:t>, investigation, evidence </a:t>
            </a:r>
            <a:r>
              <a:rPr sz="1300" b="0" dirty="0" smtClean="0">
                <a:solidFill>
                  <a:srgbClr val="141414"/>
                </a:solidFill>
              </a:rPr>
              <a:t>APIs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Backend </a:t>
            </a:r>
            <a:r>
              <a:rPr sz="1300" b="0" dirty="0">
                <a:solidFill>
                  <a:srgbClr val="141414"/>
                </a:solidFill>
              </a:rPr>
              <a:t>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Basit Ali | 54596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1765068"/>
            <a:ext cx="2286000" cy="19559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Frontend and Testing </a:t>
            </a:r>
            <a:r>
              <a:rPr sz="1300" b="1" dirty="0" smtClean="0">
                <a:solidFill>
                  <a:srgbClr val="141414"/>
                </a:solidFill>
              </a:rPr>
              <a:t>Lead</a:t>
            </a:r>
            <a:endParaRPr lang="en-US" sz="1300" b="1" dirty="0" smtClean="0"/>
          </a:p>
          <a:p>
            <a:pPr algn="l"/>
            <a:endParaRPr lang="en-US" sz="1300" b="0" dirty="0" smtClean="0">
              <a:solidFill>
                <a:srgbClr val="141414"/>
              </a:solidFill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React </a:t>
            </a:r>
            <a:r>
              <a:rPr sz="1300" b="0" dirty="0">
                <a:solidFill>
                  <a:srgbClr val="141414"/>
                </a:solidFill>
              </a:rPr>
              <a:t>and </a:t>
            </a:r>
            <a:r>
              <a:rPr sz="1300" b="0" dirty="0" err="1" smtClean="0">
                <a:solidFill>
                  <a:srgbClr val="141414"/>
                </a:solidFill>
              </a:rPr>
              <a:t>TypeScript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UI </a:t>
            </a:r>
            <a:r>
              <a:rPr sz="1300" b="0" dirty="0">
                <a:solidFill>
                  <a:srgbClr val="141414"/>
                </a:solidFill>
              </a:rPr>
              <a:t>and </a:t>
            </a:r>
            <a:r>
              <a:rPr sz="1300" b="0" dirty="0" smtClean="0">
                <a:solidFill>
                  <a:srgbClr val="141414"/>
                </a:solidFill>
              </a:rPr>
              <a:t>UX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Dashboards </a:t>
            </a:r>
            <a:r>
              <a:rPr sz="1300" b="0" dirty="0">
                <a:solidFill>
                  <a:srgbClr val="141414"/>
                </a:solidFill>
              </a:rPr>
              <a:t>and </a:t>
            </a:r>
            <a:r>
              <a:rPr sz="1300" b="0" dirty="0" smtClean="0">
                <a:solidFill>
                  <a:srgbClr val="141414"/>
                </a:solidFill>
              </a:rPr>
              <a:t>forms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Audit </a:t>
            </a:r>
            <a:r>
              <a:rPr sz="1300" b="0" dirty="0">
                <a:solidFill>
                  <a:srgbClr val="141414"/>
                </a:solidFill>
              </a:rPr>
              <a:t>and charts </a:t>
            </a:r>
            <a:r>
              <a:rPr sz="1300" b="0" dirty="0" smtClean="0">
                <a:solidFill>
                  <a:srgbClr val="141414"/>
                </a:solidFill>
              </a:rPr>
              <a:t>interface</a:t>
            </a:r>
            <a:endParaRPr lang="en-US" sz="13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 smtClean="0">
                <a:solidFill>
                  <a:srgbClr val="141414"/>
                </a:solidFill>
              </a:rPr>
              <a:t>UI </a:t>
            </a:r>
            <a:r>
              <a:rPr sz="1300" b="0" dirty="0">
                <a:solidFill>
                  <a:srgbClr val="141414"/>
                </a:solidFill>
              </a:rPr>
              <a:t>and usability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Shared: research, documentation, GitHub, code review, integration, security testing, final report,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presentation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viva preparation.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680960" cy="29972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Academic </a:t>
            </a:r>
            <a:r>
              <a:rPr dirty="0">
                <a:latin typeface="Arial"/>
              </a:rPr>
              <a:t>prototype only, not a production police system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Synthetic </a:t>
            </a:r>
            <a:r>
              <a:rPr dirty="0">
                <a:latin typeface="Arial"/>
              </a:rPr>
              <a:t>or demonstration data only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No </a:t>
            </a:r>
            <a:r>
              <a:rPr dirty="0">
                <a:latin typeface="Arial"/>
              </a:rPr>
              <a:t>NADRA, live police, or government system integration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Small </a:t>
            </a:r>
            <a:r>
              <a:rPr dirty="0">
                <a:latin typeface="Arial"/>
              </a:rPr>
              <a:t>controlled blockchain network for demonstration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Performance </a:t>
            </a:r>
            <a:r>
              <a:rPr dirty="0">
                <a:latin typeface="Arial"/>
              </a:rPr>
              <a:t>and scale testing limited by available student infrastructure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 smtClean="0">
                <a:latin typeface="Arial"/>
              </a:rPr>
              <a:t>No </a:t>
            </a:r>
            <a:r>
              <a:rPr dirty="0">
                <a:latin typeface="Arial"/>
              </a:rPr>
              <a:t>legally binding digital FIR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572000"/>
            <a:ext cx="749807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4572000"/>
            <a:ext cx="64008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012" y="4626312"/>
            <a:ext cx="72694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Scope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776" y="5001031"/>
            <a:ext cx="72694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The project investigates technical feasibility and does not claim operational or legal deployment.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Expected Benefits and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582" y="1344168"/>
            <a:ext cx="3218225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Expected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3520439" cy="351788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Improved </a:t>
            </a:r>
            <a:r>
              <a:rPr sz="1500" b="0" dirty="0">
                <a:solidFill>
                  <a:srgbClr val="141414"/>
                </a:solidFill>
              </a:rPr>
              <a:t>record integrity through cryptographic </a:t>
            </a:r>
            <a:r>
              <a:rPr sz="1500" b="0" dirty="0" smtClean="0">
                <a:solidFill>
                  <a:srgbClr val="141414"/>
                </a:solidFill>
              </a:rPr>
              <a:t>verification</a:t>
            </a:r>
            <a:endParaRPr lang="en-US" sz="15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Stronger </a:t>
            </a:r>
            <a:r>
              <a:rPr sz="1500" b="0" dirty="0">
                <a:solidFill>
                  <a:srgbClr val="141414"/>
                </a:solidFill>
              </a:rPr>
              <a:t>accountability through RBAC and blockchain audit </a:t>
            </a:r>
            <a:r>
              <a:rPr sz="1500" b="0" dirty="0" smtClean="0">
                <a:solidFill>
                  <a:srgbClr val="141414"/>
                </a:solidFill>
              </a:rPr>
              <a:t>trails</a:t>
            </a:r>
            <a:endParaRPr lang="en-US" sz="15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Clearer </a:t>
            </a:r>
            <a:r>
              <a:rPr sz="1500" b="0" dirty="0">
                <a:solidFill>
                  <a:srgbClr val="141414"/>
                </a:solidFill>
              </a:rPr>
              <a:t>visibility into the FIR </a:t>
            </a:r>
            <a:r>
              <a:rPr sz="1500" b="0" dirty="0" smtClean="0">
                <a:solidFill>
                  <a:srgbClr val="141414"/>
                </a:solidFill>
              </a:rPr>
              <a:t>lifecycle</a:t>
            </a:r>
            <a:endParaRPr lang="en-US" sz="15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Tamper </a:t>
            </a:r>
            <a:r>
              <a:rPr sz="1500" b="0" dirty="0">
                <a:solidFill>
                  <a:srgbClr val="141414"/>
                </a:solidFill>
              </a:rPr>
              <a:t>evident evidence and document </a:t>
            </a:r>
            <a:r>
              <a:rPr sz="1500" b="0" dirty="0" smtClean="0">
                <a:solidFill>
                  <a:srgbClr val="141414"/>
                </a:solidFill>
              </a:rPr>
              <a:t>history</a:t>
            </a:r>
            <a:endParaRPr lang="en-US" sz="1500" dirty="0" smtClean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Practical </a:t>
            </a:r>
            <a:r>
              <a:rPr sz="1500" b="0" dirty="0">
                <a:solidFill>
                  <a:srgbClr val="141414"/>
                </a:solidFill>
              </a:rPr>
              <a:t>demonstration of permissioned blockchain in a public sector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26280" y="123444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50691" y="1353404"/>
            <a:ext cx="3251476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Success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737360"/>
            <a:ext cx="3520439" cy="30562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Authorized </a:t>
            </a:r>
            <a:r>
              <a:rPr sz="1500" b="0" dirty="0">
                <a:solidFill>
                  <a:srgbClr val="141414"/>
                </a:solidFill>
              </a:rPr>
              <a:t>users authenticate and roles are </a:t>
            </a:r>
            <a:r>
              <a:rPr sz="1500" b="0" dirty="0" smtClean="0">
                <a:solidFill>
                  <a:srgbClr val="141414"/>
                </a:solidFill>
              </a:rPr>
              <a:t>enforced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FIRs </a:t>
            </a:r>
            <a:r>
              <a:rPr sz="1500" b="0" dirty="0">
                <a:solidFill>
                  <a:srgbClr val="141414"/>
                </a:solidFill>
              </a:rPr>
              <a:t>move through defined workflow </a:t>
            </a:r>
            <a:r>
              <a:rPr sz="1500" b="0" dirty="0" smtClean="0">
                <a:solidFill>
                  <a:srgbClr val="141414"/>
                </a:solidFill>
              </a:rPr>
              <a:t>states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Evidence </a:t>
            </a:r>
            <a:r>
              <a:rPr sz="1500" b="0" dirty="0">
                <a:solidFill>
                  <a:srgbClr val="141414"/>
                </a:solidFill>
              </a:rPr>
              <a:t>hashes are generated and </a:t>
            </a:r>
            <a:r>
              <a:rPr sz="1500" b="0" dirty="0" smtClean="0">
                <a:solidFill>
                  <a:srgbClr val="141414"/>
                </a:solidFill>
              </a:rPr>
              <a:t>verified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Key </a:t>
            </a:r>
            <a:r>
              <a:rPr sz="1500" b="0" dirty="0">
                <a:solidFill>
                  <a:srgbClr val="141414"/>
                </a:solidFill>
              </a:rPr>
              <a:t>operations produce blockchain </a:t>
            </a:r>
            <a:r>
              <a:rPr sz="1500" b="0" dirty="0" smtClean="0">
                <a:solidFill>
                  <a:srgbClr val="141414"/>
                </a:solidFill>
              </a:rPr>
              <a:t>transactions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History </a:t>
            </a:r>
            <a:r>
              <a:rPr sz="1500" b="0" dirty="0">
                <a:solidFill>
                  <a:srgbClr val="141414"/>
                </a:solidFill>
              </a:rPr>
              <a:t>can be retrieved and </a:t>
            </a:r>
            <a:r>
              <a:rPr sz="1500" b="0" dirty="0" smtClean="0">
                <a:solidFill>
                  <a:srgbClr val="141414"/>
                </a:solidFill>
              </a:rPr>
              <a:t>reconstructed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Unauthorized </a:t>
            </a:r>
            <a:r>
              <a:rPr sz="1500" b="0" dirty="0">
                <a:solidFill>
                  <a:srgbClr val="141414"/>
                </a:solidFill>
              </a:rPr>
              <a:t>actions are </a:t>
            </a:r>
            <a:r>
              <a:rPr sz="1500" b="0" dirty="0" smtClean="0">
                <a:solidFill>
                  <a:srgbClr val="141414"/>
                </a:solidFill>
              </a:rPr>
              <a:t>rejected</a:t>
            </a:r>
            <a:endParaRPr lang="en-US" sz="150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>
                <a:solidFill>
                  <a:srgbClr val="141414"/>
                </a:solidFill>
              </a:rPr>
              <a:t>End </a:t>
            </a:r>
            <a:r>
              <a:rPr sz="1500" b="0" dirty="0">
                <a:solidFill>
                  <a:srgbClr val="141414"/>
                </a:solidFill>
              </a:rPr>
              <a:t>to end prototype works with synthetic data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7240" y="304800"/>
            <a:ext cx="7701742" cy="227139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 dirty="0" smtClean="0">
                <a:solidFill>
                  <a:srgbClr val="1F497D"/>
                </a:solidFill>
                <a:latin typeface="Arial"/>
              </a:rPr>
              <a:t>Digital </a:t>
            </a:r>
            <a:r>
              <a:rPr sz="2400" b="1" dirty="0" smtClean="0">
                <a:solidFill>
                  <a:srgbClr val="1F497D"/>
                </a:solidFill>
                <a:latin typeface="Arial"/>
              </a:rPr>
              <a:t>FIR combines a conventional secure database with a permissioned </a:t>
            </a:r>
            <a:r>
              <a:rPr sz="2400" b="1" dirty="0" err="1" smtClean="0">
                <a:solidFill>
                  <a:srgbClr val="1F497D"/>
                </a:solidFill>
                <a:latin typeface="Arial"/>
              </a:rPr>
              <a:t>Hyperledger</a:t>
            </a:r>
            <a:r>
              <a:rPr sz="2400" b="1" dirty="0" smtClean="0">
                <a:solidFill>
                  <a:srgbClr val="1F497D"/>
                </a:solidFill>
                <a:latin typeface="Arial"/>
              </a:rPr>
              <a:t> Fabric layer to improve integrity, traceability and auditability of FIR workflows.</a:t>
            </a:r>
            <a:endParaRPr sz="24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3172968"/>
            <a:ext cx="6949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3569" y="3163732"/>
            <a:ext cx="64008" cy="11430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3668" y="3235490"/>
            <a:ext cx="672084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634038"/>
            <a:ext cx="6720840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Sensitive information stays off chain. Hashes, transactions, workflow 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events</a:t>
            </a:r>
            <a:r>
              <a:rPr lang="en-US" sz="16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integrity metadata provide the verifiable audit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694944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  <a:latin typeface="Arial"/>
              </a:rPr>
              <a:t>Thank You</a:t>
            </a:r>
            <a:r>
              <a:t/>
            </a:r>
            <a:br/>
            <a:r>
              <a:rPr sz="2400" b="1">
                <a:solidFill>
                  <a:srgbClr val="1F497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1153</Words>
  <Application>Microsoft Office PowerPoint</Application>
  <PresentationFormat>On-screen Show (4:3)</PresentationFormat>
  <Paragraphs>223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Wingdings</vt:lpstr>
      <vt:lpstr>Office Theme</vt:lpstr>
      <vt:lpstr>Final Year Project Proposal</vt:lpstr>
      <vt:lpstr>Project Team</vt:lpstr>
      <vt:lpstr>Table of Content</vt:lpstr>
      <vt:lpstr>INTRODUCTION AND BACKGROUND</vt:lpstr>
      <vt:lpstr>Introduction and Background</vt:lpstr>
      <vt:lpstr>EXISTING SYSTEMS IN PAKISTAN</vt:lpstr>
      <vt:lpstr>Existing Systems and Comparison</vt:lpstr>
      <vt:lpstr>PowerPoint Presentation</vt:lpstr>
      <vt:lpstr>GAP ANALYSIS</vt:lpstr>
      <vt:lpstr>Research Gap and Novelty</vt:lpstr>
      <vt:lpstr>PROBLEM STATEMENT</vt:lpstr>
      <vt:lpstr>Problem Statement and Objectives</vt:lpstr>
      <vt:lpstr>PROPOSED SOLUTION AND METHODOLOGY</vt:lpstr>
      <vt:lpstr>Hybrid On Chain and Off Chain Design</vt:lpstr>
      <vt:lpstr>System Architecture and Technology Stack</vt:lpstr>
      <vt:lpstr>PROJECT SCOPE</vt:lpstr>
      <vt:lpstr>Project Scope</vt:lpstr>
      <vt:lpstr>Work Breakdown Structure</vt:lpstr>
      <vt:lpstr>Roles and Responsibilities</vt:lpstr>
      <vt:lpstr>CONSTRAINTS AND LIMITATIONS</vt:lpstr>
      <vt:lpstr>Constraints and Limitations</vt:lpstr>
      <vt:lpstr>Expected Benefits and Success Criteria</vt:lpstr>
      <vt:lpstr>CONCLUSION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Microsoft account</cp:lastModifiedBy>
  <cp:revision>35</cp:revision>
  <dcterms:created xsi:type="dcterms:W3CDTF">2013-01-22T07:04:44Z</dcterms:created>
  <dcterms:modified xsi:type="dcterms:W3CDTF">2026-09-14T20:52:10Z</dcterms:modified>
</cp:coreProperties>
</file>