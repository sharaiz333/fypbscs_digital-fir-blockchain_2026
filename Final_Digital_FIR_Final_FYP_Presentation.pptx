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79" r:id="rId7"/>
    <p:sldId id="262" r:id="rId8"/>
    <p:sldId id="280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81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qso+muD7qxSKyk66oXGt+27nM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1450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114530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33566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115260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92124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8009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10605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0748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66253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798967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9867fdc9_0_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9867fdc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701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039867fdc9_0_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g2039867fdc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78490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876793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952066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94510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03422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7870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115621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41020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04599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98621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algn="ctr"/>
            <a:r>
              <a:rPr sz="3000" b="1">
                <a:solidFill>
                  <a:srgbClr val="1F497D"/>
                </a:solidFill>
                <a:latin typeface="Arial"/>
              </a:rPr>
              <a:t>Final Year Project Proposal</a:t>
            </a: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2255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pPr algn="ctr"/>
            <a:r>
              <a:rPr sz="1800" b="1" dirty="0">
                <a:solidFill>
                  <a:srgbClr val="141414"/>
                </a:solidFill>
                <a:latin typeface="Arial"/>
              </a:rPr>
              <a:t>Digital FIR</a:t>
            </a:r>
          </a:p>
          <a:p>
            <a:pPr algn="ctr"/>
            <a:r>
              <a:rPr sz="1800" dirty="0">
                <a:solidFill>
                  <a:srgbClr val="141414"/>
                </a:solidFill>
                <a:latin typeface="Arial"/>
              </a:rPr>
              <a:t>A Blockchain Based Secure First Information Report Management System</a:t>
            </a:r>
            <a:endParaRPr lang="en-US" sz="1800" dirty="0">
              <a:solidFill>
                <a:srgbClr val="141414"/>
              </a:solidFill>
              <a:latin typeface="Arial"/>
            </a:endParaRPr>
          </a:p>
          <a:p>
            <a:pPr algn="ctr"/>
            <a:endParaRPr lang="en-US" sz="1800" b="0" dirty="0">
              <a:solidFill>
                <a:srgbClr val="141414"/>
              </a:solidFill>
              <a:latin typeface="Arial"/>
            </a:endParaRPr>
          </a:p>
          <a:p>
            <a:pPr algn="ctr"/>
            <a:endParaRPr sz="1800" b="0" dirty="0">
              <a:solidFill>
                <a:srgbClr val="141414"/>
              </a:solidFill>
              <a:latin typeface="Arial"/>
            </a:endParaRPr>
          </a:p>
          <a:p>
            <a:pPr algn="ctr"/>
            <a:r>
              <a:rPr sz="1800" b="1" dirty="0">
                <a:solidFill>
                  <a:srgbClr val="141414"/>
                </a:solidFill>
                <a:latin typeface="Arial"/>
              </a:rPr>
              <a:t>Supervised By:</a:t>
            </a:r>
            <a:r>
              <a:rPr sz="18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141414"/>
                </a:solidFill>
                <a:latin typeface="Arial"/>
              </a:rPr>
              <a:t>Tabassum</a:t>
            </a:r>
            <a:r>
              <a:rPr sz="1800" b="0" dirty="0">
                <a:solidFill>
                  <a:srgbClr val="141414"/>
                </a:solidFill>
                <a:latin typeface="Arial"/>
              </a:rPr>
              <a:t> </a:t>
            </a:r>
            <a:r>
              <a:rPr sz="1800" b="0" dirty="0" err="1">
                <a:solidFill>
                  <a:srgbClr val="141414"/>
                </a:solidFill>
                <a:latin typeface="Arial"/>
              </a:rPr>
              <a:t>Javed</a:t>
            </a:r>
            <a:endParaRPr sz="1800" b="0" dirty="0">
              <a:solidFill>
                <a:srgbClr val="141414"/>
              </a:solidFill>
              <a:latin typeface="Arial"/>
            </a:endParaRPr>
          </a:p>
        </p:txBody>
      </p:sp>
      <p:pic>
        <p:nvPicPr>
          <p:cNvPr id="86" name="Google Shape;86;p1" descr="Riphah.jpg"/>
          <p:cNvPicPr preferRelativeResize="0"/>
          <p:nvPr/>
        </p:nvPicPr>
        <p:blipFill rotWithShape="1">
          <a:blip r:embed="rId4">
            <a:alphaModFix/>
          </a:blip>
          <a:srcRect l="3033" t="4065" r="6926" b="4925"/>
          <a:stretch/>
        </p:blipFill>
        <p:spPr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Project Team</a:t>
            </a:r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3152" tIns="36576" rIns="73152" bIns="36576" anchor="t" anchorCtr="0">
            <a:no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Sharaiz Ahmed (57288)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Abdul </a:t>
            </a:r>
            <a:r>
              <a:rPr dirty="0" err="1">
                <a:latin typeface="Arial"/>
              </a:rPr>
              <a:t>Moiz</a:t>
            </a:r>
            <a:r>
              <a:rPr dirty="0">
                <a:latin typeface="Arial"/>
              </a:rPr>
              <a:t> (54482)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Arial"/>
              </a:defRPr>
            </a:pPr>
            <a:r>
              <a:rPr dirty="0" err="1">
                <a:latin typeface="Arial"/>
              </a:rPr>
              <a:t>Basit</a:t>
            </a:r>
            <a:r>
              <a:rPr dirty="0">
                <a:latin typeface="Arial"/>
              </a:rPr>
              <a:t> Ali (54596)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 dirty="0">
                <a:solidFill>
                  <a:srgbClr val="1F497D"/>
                </a:solidFill>
                <a:latin typeface="Arial"/>
              </a:rPr>
              <a:t>Table of Content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40080" y="1508760"/>
            <a:ext cx="3695097" cy="46566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Introduction and Background</a:t>
            </a:r>
            <a:endParaRPr lang="en-US" sz="2400" dirty="0">
              <a:latin typeface="Arial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Existing Systems in Pakistan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Gap Analysis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Problem Statement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Proposed Solution and Methodology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System Architecture</a:t>
            </a:r>
            <a:endParaRPr lang="en-GB" sz="2400" dirty="0">
              <a:latin typeface="Arial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lang="en-GB" sz="2400" dirty="0"/>
              <a:t>Project Scope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endParaRPr sz="2400" dirty="0">
              <a:latin typeface="Arial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434840" y="1508760"/>
            <a:ext cx="3749039" cy="3687163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Work Breakdown Structure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Roles and Responsibilities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Constraints and Limitations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Expected Benefits and Success Criteria</a:t>
            </a: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141414"/>
                </a:solidFill>
                <a:latin typeface="Arial"/>
              </a:defRPr>
            </a:pPr>
            <a:r>
              <a:rPr sz="2400" dirty="0">
                <a:latin typeface="Arial"/>
              </a:rPr>
              <a:t>Conclusion and 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694606" y="4581242"/>
            <a:ext cx="7772400" cy="481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 dirty="0">
                <a:solidFill>
                  <a:srgbClr val="1F497D"/>
                </a:solidFill>
                <a:latin typeface="Arial"/>
              </a:rPr>
              <a:t>INTRODUCTION AND BACKGROUND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Introduction and Background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4360" y="1508760"/>
            <a:ext cx="374903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594360" y="1508760"/>
            <a:ext cx="64008" cy="18745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49808" y="1618488"/>
            <a:ext cx="3520439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Arial"/>
              </a:rPr>
              <a:t>What is an FIR?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9808" y="2011680"/>
            <a:ext cx="3520439" cy="104028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An FIR formally opens the criminal justice process. It records the reported offence, identifies the parties</a:t>
            </a:r>
            <a:r>
              <a:rPr lang="en-US" sz="16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starts investigation.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4572000" y="1508760"/>
            <a:ext cx="374903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4572000" y="1508760"/>
            <a:ext cx="64008" cy="1874519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4727448" y="1618488"/>
            <a:ext cx="3520439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DAA520"/>
                </a:solidFill>
                <a:latin typeface="Arial"/>
              </a:rPr>
              <a:t>Current situation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27448" y="2011680"/>
            <a:ext cx="3520439" cy="1040285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Punjab, Sindh</a:t>
            </a:r>
            <a:r>
              <a:rPr lang="en-US" sz="16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KP already use digital complaint and record systems. The project does not aim to replace these systems.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94360" y="3611880"/>
            <a:ext cx="7726679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594360" y="3611880"/>
            <a:ext cx="64008" cy="18745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49808" y="3721608"/>
            <a:ext cx="7498079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Arial"/>
              </a:rPr>
              <a:t>What this project adds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49808" y="4114800"/>
            <a:ext cx="7498079" cy="54784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A permissioned </a:t>
            </a:r>
            <a:r>
              <a:rPr sz="1600" b="0" dirty="0" err="1">
                <a:solidFill>
                  <a:srgbClr val="141414"/>
                </a:solidFill>
                <a:latin typeface="Arial"/>
              </a:rPr>
              <a:t>Hyperledger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Fabric layer for integrity, traceability</a:t>
            </a:r>
            <a:r>
              <a:rPr lang="en-US" sz="16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tamper evident auditing, while sensitive FIR data stays off chain.</a:t>
            </a: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EXISTING SYSTEMS IN PAKISTAN</a:t>
            </a:r>
          </a:p>
        </p:txBody>
      </p:sp>
    </p:spTree>
    <p:extLst>
      <p:ext uri="{BB962C8B-B14F-4D97-AF65-F5344CB8AC3E}">
        <p14:creationId xmlns:p14="http://schemas.microsoft.com/office/powerpoint/2010/main" val="1337815342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Existing Systems and Comparison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3976616"/>
              </p:ext>
            </p:extLst>
          </p:nvPr>
        </p:nvGraphicFramePr>
        <p:xfrm>
          <a:off x="411480" y="1417320"/>
          <a:ext cx="8321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60604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Capability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Punjab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Sindh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KP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FFFFFF"/>
                          </a:solidFill>
                          <a:latin typeface="Arial"/>
                        </a:rPr>
                        <a:t>Digital FIR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41414"/>
                          </a:solidFill>
                          <a:latin typeface="Arial"/>
                        </a:rPr>
                        <a:t>Digital complaint submission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 dirty="0">
                          <a:solidFill>
                            <a:srgbClr val="141414"/>
                          </a:solidFill>
                          <a:latin typeface="Arial"/>
                        </a:rPr>
                        <a:t>Digital FIR / case records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Case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Officer assignment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Document hashing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Not 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Not 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Not documented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SHA 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Permissioned blockchain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✗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Tamper evident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Conventional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Conventional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41414"/>
                          </a:solidFill>
                          <a:latin typeface="Arial"/>
                        </a:rPr>
                        <a:t>Conventional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141414"/>
                          </a:solidFill>
                          <a:latin typeface="Arial"/>
                        </a:rPr>
                        <a:t>Blockchain +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48"/>
          <p:cNvSpPr txBox="1"/>
          <p:nvPr/>
        </p:nvSpPr>
        <p:spPr>
          <a:xfrm>
            <a:off x="457200" y="254470"/>
            <a:ext cx="8335818" cy="548816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Digital police systems are already being used in Punjab, Sindh and Khyber Pakhtunkhwa for complaints, FIR records, case tracking and officer management.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These systems have improved the way police records are created, stored and accessed.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However, most existing systems mainly depend on centralized databases and conventional audit logs.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Blockchain can provide a more reliable way to maintain a tamper-evident history of important FIR activities.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SHA-256 hashing can be used to check whether FIR documents or evidence have been changed.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A permissioned blockchain is more suitable for police data because access can be restricted to authorized organizations and officers.</a:t>
            </a:r>
          </a:p>
          <a:p>
            <a:pPr marL="285750" indent="-285750">
              <a:lnSpc>
                <a:spcPct val="150000"/>
              </a:lnSpc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lang="en-US" sz="1600" dirty="0"/>
              <a:t>Based on the reviewed systems, there is an opportunity to combine digital FIR management, blockchain, hashing, RBAC and audit tracking in one system.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498521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9867fdc9_0_11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GAP ANALYSIS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039867fdc9_0_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Research Gap and Novelty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94360" y="1417320"/>
            <a:ext cx="3703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594360" y="1417320"/>
            <a:ext cx="64008" cy="1920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749808" y="1527048"/>
            <a:ext cx="347472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Arial"/>
              </a:rPr>
              <a:t>Existing capability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9808" y="2003364"/>
            <a:ext cx="3474720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Digital complaints, FIR records, tracking, assignment</a:t>
            </a:r>
            <a:r>
              <a:rPr lang="en-US" sz="16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supervisory monitoring already exist.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572000" y="1417320"/>
            <a:ext cx="370332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4572000" y="1417320"/>
            <a:ext cx="64008" cy="192024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4727448" y="1527048"/>
            <a:ext cx="347472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DAA520"/>
                </a:solidFill>
                <a:latin typeface="Arial"/>
              </a:rPr>
              <a:t>Identified gap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727448" y="2012603"/>
            <a:ext cx="3474720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Publicly documented systems do not identify permissioned blockchain integrity as a core feature.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94360" y="3566160"/>
            <a:ext cx="76809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594360" y="3566160"/>
            <a:ext cx="64008" cy="19659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749808" y="3675887"/>
            <a:ext cx="745236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Arial"/>
              </a:rPr>
              <a:t>Project novelty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9808" y="4170677"/>
            <a:ext cx="7452360" cy="794064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141414"/>
                </a:solidFill>
                <a:latin typeface="Arial"/>
              </a:rPr>
              <a:t>Integration of FIR workflow + permissioned blockchain + SHA 256 integrity checks + role based authorization + auditable evidence metadata.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50982" y="5595667"/>
            <a:ext cx="8100291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dirty="0">
                <a:solidFill>
                  <a:srgbClr val="1F497D"/>
                </a:solidFill>
                <a:latin typeface="Arial"/>
              </a:rPr>
              <a:t>Research focus: strengthen integrity verification, traceability</a:t>
            </a:r>
            <a:r>
              <a:rPr lang="en-US" sz="1400" b="1" dirty="0">
                <a:solidFill>
                  <a:srgbClr val="1F497D"/>
                </a:solidFill>
                <a:latin typeface="Arial"/>
              </a:rPr>
              <a:t> and</a:t>
            </a:r>
            <a:r>
              <a:rPr sz="1400" b="1" dirty="0">
                <a:solidFill>
                  <a:srgbClr val="1F497D"/>
                </a:solidFill>
                <a:latin typeface="Arial"/>
              </a:rPr>
              <a:t> tamper evident auditing.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PROBLEM STATEMENT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 dirty="0">
                <a:solidFill>
                  <a:srgbClr val="1F497D"/>
                </a:solidFill>
                <a:latin typeface="Arial"/>
              </a:rPr>
              <a:t>Problem Statement and Objectives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94360" y="1269542"/>
            <a:ext cx="7726679" cy="12505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dirty="0">
                <a:solidFill>
                  <a:srgbClr val="141414"/>
                </a:solidFill>
                <a:latin typeface="Arial"/>
              </a:rPr>
              <a:t>Centralized police information systems rely on trusted administrators and application level audit logs. The project needs a way to verify who changed a record, when it changed</a:t>
            </a:r>
            <a:r>
              <a:rPr lang="en-US" sz="18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800" b="0" dirty="0">
                <a:solidFill>
                  <a:srgbClr val="141414"/>
                </a:solidFill>
                <a:latin typeface="Arial"/>
              </a:rPr>
              <a:t> whether related documents were altered.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94360" y="2788920"/>
            <a:ext cx="18288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1F497D"/>
                </a:solidFill>
                <a:latin typeface="Arial"/>
              </a:rPr>
              <a:t>Core objectives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94360" y="3154680"/>
            <a:ext cx="3703320" cy="272279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Create a role based digital FIR interface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Secure authentication and backend authorization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Integrate </a:t>
            </a:r>
            <a:r>
              <a:rPr sz="1600" dirty="0" err="1">
                <a:latin typeface="Arial"/>
              </a:rPr>
              <a:t>Hyperledger</a:t>
            </a:r>
            <a:r>
              <a:rPr sz="1600" dirty="0">
                <a:latin typeface="Arial"/>
              </a:rPr>
              <a:t> Fabric and </a:t>
            </a:r>
            <a:r>
              <a:rPr sz="1600" dirty="0" err="1">
                <a:latin typeface="Arial"/>
              </a:rPr>
              <a:t>chaincode</a:t>
            </a:r>
            <a:endParaRPr sz="1600" dirty="0">
              <a:latin typeface="Arial"/>
            </a:endParaRP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Use SHA 256 for record and document integrity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Track FIRs from registration to closure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526280" y="3154680"/>
            <a:ext cx="3749039" cy="22303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Maintain a chronological audit history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Register evidence metadata and hashes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Provide dashboards and reports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Notify users about important workflow events</a:t>
            </a:r>
          </a:p>
          <a:p>
            <a:pPr marL="285750" indent="-285750">
              <a:spcAft>
                <a:spcPts val="400"/>
              </a:spcAft>
              <a:buFont typeface="Wingdings" panose="05000000000000000000" pitchFamily="2" charset="2"/>
              <a:buChar char="v"/>
              <a:defRPr sz="1500">
                <a:solidFill>
                  <a:srgbClr val="141414"/>
                </a:solidFill>
                <a:latin typeface="Arial"/>
              </a:defRPr>
            </a:pPr>
            <a:r>
              <a:rPr sz="1600" dirty="0">
                <a:latin typeface="Arial"/>
              </a:rPr>
              <a:t>Protect confidential information with controlled access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PROPOSED SOLUTION AND METHODOLOGY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Hybrid On Chain and Off Chain Design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02920" y="1224284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502920" y="1261228"/>
            <a:ext cx="64008" cy="4343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658368" y="1435607"/>
            <a:ext cx="333756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1F497D"/>
                </a:solidFill>
                <a:latin typeface="Arial"/>
              </a:rPr>
              <a:t>OFF CHAIN | Sensitive Data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8368" y="1828800"/>
            <a:ext cx="3337560" cy="33793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Complainant personal data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CNIC and contact information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FIR narrative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Suspect and witness information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Investigation notes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Documents, images</a:t>
            </a:r>
            <a:r>
              <a:rPr lang="en-US" sz="1600" b="0" dirty="0">
                <a:solidFill>
                  <a:srgbClr val="141414"/>
                </a:solidFill>
              </a:rPr>
              <a:t> and</a:t>
            </a:r>
            <a:r>
              <a:rPr sz="1600" b="0" dirty="0">
                <a:solidFill>
                  <a:srgbClr val="141414"/>
                </a:solidFill>
              </a:rPr>
              <a:t> PDFs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b="1" dirty="0">
                <a:solidFill>
                  <a:srgbClr val="141414"/>
                </a:solidFill>
              </a:rPr>
              <a:t>Storage:</a:t>
            </a:r>
            <a:r>
              <a:rPr sz="1600" b="0" dirty="0">
                <a:solidFill>
                  <a:srgbClr val="141414"/>
                </a:solidFill>
              </a:rPr>
              <a:t> PostgreSQL + protected file storage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133087" y="2423160"/>
            <a:ext cx="914400" cy="4572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600" b="1">
                <a:solidFill>
                  <a:srgbClr val="DAA520"/>
                </a:solidFill>
                <a:latin typeface="Arial"/>
              </a:rPr>
              <a:t>SHA 256</a:t>
            </a:r>
          </a:p>
        </p:txBody>
      </p:sp>
      <p:sp>
        <p:nvSpPr>
          <p:cNvPr id="164" name="Chevron 163"/>
          <p:cNvSpPr/>
          <p:nvPr/>
        </p:nvSpPr>
        <p:spPr>
          <a:xfrm>
            <a:off x="4187952" y="2971800"/>
            <a:ext cx="822960" cy="640080"/>
          </a:xfrm>
          <a:prstGeom prst="chevron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Rounded Rectangle 164"/>
          <p:cNvSpPr/>
          <p:nvPr/>
        </p:nvSpPr>
        <p:spPr>
          <a:xfrm>
            <a:off x="5074920" y="1178104"/>
            <a:ext cx="35661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5074920" y="1196576"/>
            <a:ext cx="64008" cy="4343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5230368" y="1435607"/>
            <a:ext cx="333756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>
                <a:solidFill>
                  <a:srgbClr val="DAA520"/>
                </a:solidFill>
                <a:latin typeface="Arial"/>
              </a:rPr>
              <a:t>ON CHAIN | Integrity Metadata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230368" y="1828800"/>
            <a:ext cx="3337560" cy="33793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FIR identifier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Transaction identifier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Record and document hashes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Operation type and status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Officer / organization identifier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Timestamp and workflow state</a:t>
            </a:r>
            <a:endParaRPr lang="en-US" sz="16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600" b="0" dirty="0">
                <a:solidFill>
                  <a:srgbClr val="141414"/>
                </a:solidFill>
              </a:rPr>
              <a:t>Approval and audit events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/>
            </a:r>
            <a:br>
              <a:rPr sz="1600" dirty="0"/>
            </a:br>
            <a:r>
              <a:rPr sz="1600" b="1" dirty="0">
                <a:solidFill>
                  <a:srgbClr val="141414"/>
                </a:solidFill>
              </a:rPr>
              <a:t>Platform:</a:t>
            </a:r>
            <a:r>
              <a:rPr sz="1600" b="0" dirty="0">
                <a:solidFill>
                  <a:srgbClr val="141414"/>
                </a:solidFill>
              </a:rPr>
              <a:t> </a:t>
            </a:r>
            <a:r>
              <a:rPr sz="1600" b="0" dirty="0" err="1">
                <a:solidFill>
                  <a:srgbClr val="141414"/>
                </a:solidFill>
              </a:rPr>
              <a:t>Hyperledger</a:t>
            </a:r>
            <a:r>
              <a:rPr sz="1600" b="0" dirty="0">
                <a:solidFill>
                  <a:srgbClr val="141414"/>
                </a:solidFill>
              </a:rPr>
              <a:t> Fabric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212437" y="5678056"/>
            <a:ext cx="6742546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dirty="0">
                <a:solidFill>
                  <a:srgbClr val="1F497D"/>
                </a:solidFill>
                <a:latin typeface="Arial"/>
              </a:rPr>
              <a:t>Sensitive information never needs to be stored on the blockchain.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"/>
          <p:cNvSpPr txBox="1">
            <a:spLocks noGrp="1"/>
          </p:cNvSpPr>
          <p:nvPr>
            <p:ph type="title"/>
          </p:nvPr>
        </p:nvSpPr>
        <p:spPr>
          <a:xfrm>
            <a:off x="722313" y="304799"/>
            <a:ext cx="7772400" cy="700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lang="en-US" sz="2600" dirty="0">
                <a:solidFill>
                  <a:srgbClr val="1F497D"/>
                </a:solidFill>
                <a:latin typeface="Arial"/>
              </a:rPr>
              <a:t>System Architecture and Technology Stack</a:t>
            </a:r>
            <a:endParaRPr sz="2600" b="1" dirty="0">
              <a:solidFill>
                <a:srgbClr val="1F497D"/>
              </a:solidFill>
              <a:latin typeface="Arial"/>
            </a:endParaRPr>
          </a:p>
        </p:txBody>
      </p:sp>
      <p:sp>
        <p:nvSpPr>
          <p:cNvPr id="165" name="Rounded Rectangle 164"/>
          <p:cNvSpPr/>
          <p:nvPr/>
        </p:nvSpPr>
        <p:spPr>
          <a:xfrm>
            <a:off x="731520" y="1234440"/>
            <a:ext cx="7132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31520" y="1234440"/>
            <a:ext cx="64008" cy="7498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886968" y="1344168"/>
            <a:ext cx="69037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Presentation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914676" y="1654236"/>
            <a:ext cx="69037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React,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TypeScript</a:t>
            </a:r>
            <a:r>
              <a:rPr b="0" dirty="0">
                <a:solidFill>
                  <a:srgbClr val="141414"/>
                </a:solidFill>
                <a:latin typeface="Arial"/>
              </a:rPr>
              <a:t>, Tailwind CSS,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Axios</a:t>
            </a:r>
            <a:endParaRPr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69" name="Rounded Rectangle 168"/>
          <p:cNvSpPr/>
          <p:nvPr/>
        </p:nvSpPr>
        <p:spPr>
          <a:xfrm>
            <a:off x="731520" y="2084832"/>
            <a:ext cx="7132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731520" y="2084832"/>
            <a:ext cx="64008" cy="749808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886968" y="2194560"/>
            <a:ext cx="69037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>
                <a:solidFill>
                  <a:srgbClr val="DAA520"/>
                </a:solidFill>
                <a:latin typeface="Arial"/>
              </a:rPr>
              <a:t>Application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914676" y="2504628"/>
            <a:ext cx="69037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Python,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FastAPI</a:t>
            </a:r>
            <a:r>
              <a:rPr b="0" dirty="0">
                <a:solidFill>
                  <a:srgbClr val="141414"/>
                </a:solidFill>
                <a:latin typeface="Arial"/>
              </a:rPr>
              <a:t>, validation, notifications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731520" y="2935224"/>
            <a:ext cx="7132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731520" y="2935224"/>
            <a:ext cx="64008" cy="7498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886968" y="3044952"/>
            <a:ext cx="69037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Data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914676" y="3355020"/>
            <a:ext cx="69037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PostgreSQL + protected file storage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31520" y="3785616"/>
            <a:ext cx="7132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31520" y="3785616"/>
            <a:ext cx="64008" cy="749808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886968" y="3895344"/>
            <a:ext cx="69037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>
                <a:solidFill>
                  <a:srgbClr val="DAA520"/>
                </a:solidFill>
                <a:latin typeface="Arial"/>
              </a:rPr>
              <a:t>Blockchain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933148" y="4214648"/>
            <a:ext cx="69037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 err="1">
                <a:solidFill>
                  <a:srgbClr val="141414"/>
                </a:solidFill>
                <a:latin typeface="Arial"/>
              </a:rPr>
              <a:t>Hyperledger</a:t>
            </a:r>
            <a:r>
              <a:rPr b="0" dirty="0">
                <a:solidFill>
                  <a:srgbClr val="141414"/>
                </a:solidFill>
                <a:latin typeface="Arial"/>
              </a:rPr>
              <a:t> Fabric, peers, CA, MSP, channels,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chaincode</a:t>
            </a:r>
            <a:endParaRPr b="0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181" name="Rounded Rectangle 180"/>
          <p:cNvSpPr/>
          <p:nvPr/>
        </p:nvSpPr>
        <p:spPr>
          <a:xfrm>
            <a:off x="731520" y="4636008"/>
            <a:ext cx="7132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731520" y="4636008"/>
            <a:ext cx="64008" cy="74980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886968" y="4745736"/>
            <a:ext cx="690372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400" b="1">
                <a:solidFill>
                  <a:srgbClr val="1F497D"/>
                </a:solidFill>
                <a:latin typeface="Arial"/>
              </a:rPr>
              <a:t>Security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86968" y="5065040"/>
            <a:ext cx="6903720" cy="270843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Authentication, RBAC, TLS, hashing, access logs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77240" y="5577840"/>
            <a:ext cx="7132320" cy="38404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>
                <a:solidFill>
                  <a:srgbClr val="1F497D"/>
                </a:solidFill>
                <a:latin typeface="Arial"/>
              </a:rPr>
              <a:t>Methodology: Agile and Scrum inspired, 12 iterative sprints.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75" y="120071"/>
            <a:ext cx="7517448" cy="56526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 txBox="1">
            <a:spLocks noGrp="1"/>
          </p:cNvSpPr>
          <p:nvPr>
            <p:ph type="title"/>
          </p:nvPr>
        </p:nvSpPr>
        <p:spPr>
          <a:xfrm>
            <a:off x="1016000" y="4310929"/>
            <a:ext cx="359294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PROJECT SCOPE</a:t>
            </a:r>
          </a:p>
        </p:txBody>
      </p:sp>
    </p:spTree>
    <p:extLst>
      <p:ext uri="{BB962C8B-B14F-4D97-AF65-F5344CB8AC3E}">
        <p14:creationId xmlns:p14="http://schemas.microsoft.com/office/powerpoint/2010/main" val="141607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>
            <a:spLocks noGrp="1"/>
          </p:cNvSpPr>
          <p:nvPr>
            <p:ph type="title"/>
          </p:nvPr>
        </p:nvSpPr>
        <p:spPr>
          <a:xfrm>
            <a:off x="722313" y="3972791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t" anchorCtr="0">
            <a:norm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Project Scope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02920" y="891771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502920" y="891771"/>
            <a:ext cx="64008" cy="44805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914401" y="969495"/>
            <a:ext cx="3520439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1F497D"/>
                </a:solidFill>
                <a:latin typeface="Arial"/>
              </a:rPr>
              <a:t>IN SCOPE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58368" y="1394691"/>
            <a:ext cx="3520439" cy="360239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Authentication and identity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Citizen complaint portal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FIR creation, approval, tracking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Police station management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Investigation and officer assignment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Evidence and SHA 256 hashing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 err="1">
                <a:solidFill>
                  <a:srgbClr val="141414"/>
                </a:solidFill>
              </a:rPr>
              <a:t>Hyperledger</a:t>
            </a:r>
            <a:r>
              <a:rPr sz="1550" b="0" dirty="0">
                <a:solidFill>
                  <a:srgbClr val="141414"/>
                </a:solidFill>
              </a:rPr>
              <a:t> Fabric transactions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Audit trail and history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Notifications, analytics, administration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4526280" y="901007"/>
            <a:ext cx="3749039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4526280" y="891771"/>
            <a:ext cx="64008" cy="448056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974274" y="969495"/>
            <a:ext cx="3520439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DAA520"/>
                </a:solidFill>
                <a:latin typeface="Arial"/>
              </a:rPr>
              <a:t>OUT OF SCOPE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681728" y="1394691"/>
            <a:ext cx="3520439" cy="279845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Live Pakistan Police integration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Real NADRA verification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Real criminal history data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AI based profiling or prediction</a:t>
            </a:r>
            <a:endParaRPr lang="en-US" sz="155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Production deployment</a:t>
            </a:r>
            <a:endParaRPr lang="en-US" sz="155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50" b="0" dirty="0">
                <a:solidFill>
                  <a:srgbClr val="141414"/>
                </a:solidFill>
              </a:rPr>
              <a:t>Legal authorization of real FIRs</a:t>
            </a:r>
            <a:r>
              <a:rPr sz="1550" dirty="0"/>
              <a:t/>
            </a:r>
            <a:br>
              <a:rPr sz="1550" dirty="0"/>
            </a:br>
            <a:r>
              <a:rPr sz="1550" dirty="0"/>
              <a:t/>
            </a:r>
            <a:br>
              <a:rPr sz="1550" dirty="0"/>
            </a:br>
            <a:r>
              <a:rPr sz="1550" b="1" dirty="0">
                <a:solidFill>
                  <a:srgbClr val="141414"/>
                </a:solidFill>
              </a:rPr>
              <a:t>All testing uses synthetic or demonstration data.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Work Breakdown Structure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502920" y="123444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502920" y="1234440"/>
            <a:ext cx="64008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658368" y="134416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1F497D"/>
                </a:solidFill>
                <a:latin typeface="Arial"/>
              </a:rPr>
              <a:t>1. Research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58368" y="1737360"/>
            <a:ext cx="228600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Requirements, background, gap analysis, planning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3154680" y="123444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3154680" y="1234440"/>
            <a:ext cx="64008" cy="1828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3310128" y="134416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DAA520"/>
                </a:solidFill>
                <a:latin typeface="Arial"/>
              </a:rPr>
              <a:t>2. Design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310128" y="1737360"/>
            <a:ext cx="2286000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Architecture, database model, workflow, security design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5806440" y="123444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5806440" y="1234440"/>
            <a:ext cx="64008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5961888" y="134416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1F497D"/>
                </a:solidFill>
                <a:latin typeface="Arial"/>
              </a:rPr>
              <a:t>3. Core Development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5961888" y="1737360"/>
            <a:ext cx="228600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Frontend,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FastAPI</a:t>
            </a:r>
            <a:r>
              <a:rPr b="0" dirty="0">
                <a:solidFill>
                  <a:srgbClr val="141414"/>
                </a:solidFill>
                <a:latin typeface="Arial"/>
              </a:rPr>
              <a:t> backend, authentication, FIR modules</a:t>
            </a:r>
          </a:p>
        </p:txBody>
      </p:sp>
      <p:sp>
        <p:nvSpPr>
          <p:cNvPr id="195" name="Rounded Rectangle 194"/>
          <p:cNvSpPr/>
          <p:nvPr/>
        </p:nvSpPr>
        <p:spPr>
          <a:xfrm>
            <a:off x="502920" y="33375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502920" y="3337560"/>
            <a:ext cx="64008" cy="1828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658368" y="344728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DAA520"/>
                </a:solidFill>
                <a:latin typeface="Arial"/>
              </a:rPr>
              <a:t>4. Blockchain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58368" y="3840480"/>
            <a:ext cx="228600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Fabric network, </a:t>
            </a:r>
            <a:r>
              <a:rPr b="0" dirty="0" err="1">
                <a:solidFill>
                  <a:srgbClr val="141414"/>
                </a:solidFill>
                <a:latin typeface="Arial"/>
              </a:rPr>
              <a:t>chaincode</a:t>
            </a:r>
            <a:r>
              <a:rPr b="0" dirty="0">
                <a:solidFill>
                  <a:srgbClr val="141414"/>
                </a:solidFill>
                <a:latin typeface="Arial"/>
              </a:rPr>
              <a:t>, transactions, integration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3154680" y="33375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3154680" y="3337560"/>
            <a:ext cx="64008" cy="18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3310128" y="344728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1F497D"/>
                </a:solidFill>
                <a:latin typeface="Arial"/>
              </a:rPr>
              <a:t>5. Evidence + Testing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310128" y="3840480"/>
            <a:ext cx="2286000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SHA 256, integrity checks, security testing, UI testing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5806440" y="3337560"/>
            <a:ext cx="251460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5806440" y="3337560"/>
            <a:ext cx="64008" cy="18288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5" name="TextBox 204"/>
          <p:cNvSpPr txBox="1"/>
          <p:nvPr/>
        </p:nvSpPr>
        <p:spPr>
          <a:xfrm>
            <a:off x="5961888" y="3447288"/>
            <a:ext cx="2286000" cy="3016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1" dirty="0">
                <a:solidFill>
                  <a:srgbClr val="DAA520"/>
                </a:solidFill>
                <a:latin typeface="Arial"/>
              </a:rPr>
              <a:t>6. Delivery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5961888" y="3840480"/>
            <a:ext cx="2286000" cy="70173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b="0" dirty="0">
                <a:solidFill>
                  <a:srgbClr val="141414"/>
                </a:solidFill>
                <a:latin typeface="Arial"/>
              </a:rPr>
              <a:t>Deployment packaging, documentation, presentation, viva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40080" y="5532120"/>
            <a:ext cx="758952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>
                <a:solidFill>
                  <a:srgbClr val="1F497D"/>
                </a:solidFill>
                <a:latin typeface="Arial"/>
              </a:rPr>
              <a:t>Work packages follow the proposal’s 12 sprint development plan.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Roles and Responsibilities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" cy="3520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344168"/>
            <a:ext cx="22860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Sharaiz Ahmed | 57288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2286000" cy="282538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dirty="0">
                <a:solidFill>
                  <a:srgbClr val="141414"/>
                </a:solidFill>
              </a:rPr>
              <a:t>System Architecture and Blockchain Lead</a:t>
            </a:r>
            <a:endParaRPr lang="en-US" sz="1600" b="0" dirty="0">
              <a:solidFill>
                <a:srgbClr val="141414"/>
              </a:solidFill>
              <a:latin typeface="Arial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41414"/>
                </a:solidFill>
              </a:rPr>
              <a:t>Architecture and requirements coordination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0" dirty="0" err="1">
                <a:solidFill>
                  <a:srgbClr val="141414"/>
                </a:solidFill>
              </a:rPr>
              <a:t>Hyperledger</a:t>
            </a:r>
            <a:r>
              <a:rPr b="0" dirty="0">
                <a:solidFill>
                  <a:srgbClr val="141414"/>
                </a:solidFill>
              </a:rPr>
              <a:t> Fabric and </a:t>
            </a:r>
            <a:r>
              <a:rPr b="0" dirty="0" err="1">
                <a:solidFill>
                  <a:srgbClr val="141414"/>
                </a:solidFill>
              </a:rPr>
              <a:t>chaincode</a:t>
            </a:r>
            <a:r>
              <a:rPr b="0" dirty="0">
                <a:solidFill>
                  <a:srgbClr val="141414"/>
                </a:solidFill>
              </a:rPr>
              <a:t> coordination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41414"/>
                </a:solidFill>
              </a:rPr>
              <a:t>Hash and integrity architecture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41414"/>
                </a:solidFill>
              </a:rPr>
              <a:t>Security architecture and integration</a:t>
            </a:r>
            <a:endParaRPr lang="en-US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b="0" dirty="0">
                <a:solidFill>
                  <a:srgbClr val="141414"/>
                </a:solidFill>
              </a:rPr>
              <a:t>GitHub and deployment coordination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34440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1234440"/>
            <a:ext cx="64008" cy="352044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0128" y="1344168"/>
            <a:ext cx="22860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DAA520"/>
                </a:solidFill>
                <a:latin typeface="Arial"/>
              </a:rPr>
              <a:t>Abdul Moiz | 54482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1737360"/>
            <a:ext cx="2286000" cy="277152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dirty="0">
                <a:solidFill>
                  <a:srgbClr val="141414"/>
                </a:solidFill>
              </a:rPr>
              <a:t>Backend and Database Lead</a:t>
            </a:r>
            <a:endParaRPr lang="en-US" sz="1300" b="1" dirty="0"/>
          </a:p>
          <a:p>
            <a:pPr algn="l"/>
            <a:endParaRPr lang="en-US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Python and </a:t>
            </a:r>
            <a:r>
              <a:rPr sz="1300" b="0" dirty="0" err="1">
                <a:solidFill>
                  <a:srgbClr val="141414"/>
                </a:solidFill>
              </a:rPr>
              <a:t>FastAPI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REST APIs and PostgreSQL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Authentication and RBAC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FIR, investigation, evidence APIs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Backend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234440"/>
            <a:ext cx="25146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806440" y="1234440"/>
            <a:ext cx="64008" cy="35204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61888" y="1344168"/>
            <a:ext cx="2286000" cy="34747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500" b="1">
                <a:solidFill>
                  <a:srgbClr val="1F497D"/>
                </a:solidFill>
                <a:latin typeface="Arial"/>
              </a:rPr>
              <a:t>Basit Ali | 54596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1765068"/>
            <a:ext cx="2286000" cy="1955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300" b="1" dirty="0">
                <a:solidFill>
                  <a:srgbClr val="141414"/>
                </a:solidFill>
              </a:rPr>
              <a:t>Frontend and Testing Lead</a:t>
            </a:r>
            <a:endParaRPr lang="en-US" sz="1300" b="1" dirty="0"/>
          </a:p>
          <a:p>
            <a:pPr algn="l"/>
            <a:endParaRPr lang="en-US" sz="1300" b="0" dirty="0">
              <a:solidFill>
                <a:srgbClr val="141414"/>
              </a:solidFill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React and </a:t>
            </a:r>
            <a:r>
              <a:rPr sz="1300" b="0" dirty="0" err="1">
                <a:solidFill>
                  <a:srgbClr val="141414"/>
                </a:solidFill>
              </a:rPr>
              <a:t>TypeScript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UI and UX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Dashboards and forms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Audit and charts interface</a:t>
            </a:r>
            <a:endParaRPr lang="en-US" sz="13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300" b="0" dirty="0">
                <a:solidFill>
                  <a:srgbClr val="141414"/>
                </a:solidFill>
              </a:rPr>
              <a:t>UI and usability testing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7498079" cy="486287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1400" b="1" dirty="0">
                <a:solidFill>
                  <a:srgbClr val="1F497D"/>
                </a:solidFill>
                <a:latin typeface="Arial"/>
              </a:rPr>
              <a:t>Shared: research, documentation, GitHub, code review, integration, security testing, final report, presentation</a:t>
            </a:r>
            <a:r>
              <a:rPr lang="en-US" sz="1400" b="1" dirty="0">
                <a:solidFill>
                  <a:srgbClr val="1F497D"/>
                </a:solidFill>
                <a:latin typeface="Arial"/>
              </a:rPr>
              <a:t> and</a:t>
            </a:r>
            <a:r>
              <a:rPr sz="1400" b="1" dirty="0">
                <a:solidFill>
                  <a:srgbClr val="1F497D"/>
                </a:solidFill>
                <a:latin typeface="Arial"/>
              </a:rPr>
              <a:t> viva preparation.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CONSTRAINTS AND LIMITATIONS</a:t>
            </a:r>
          </a:p>
        </p:txBody>
      </p:sp>
    </p:spTree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Constraints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680960" cy="29972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Academic prototype only, not a production police system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Synthetic or demonstration data only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No NADRA, live police, or government system integration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Small controlled blockchain network for demonstration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Performance and scale testing limited by available student infrastructure</a:t>
            </a:r>
          </a:p>
          <a:p>
            <a:pPr marL="285750" indent="-285750">
              <a:lnSpc>
                <a:spcPct val="150000"/>
              </a:lnSpc>
              <a:spcAft>
                <a:spcPts val="7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  <a:latin typeface="Arial"/>
              </a:defRPr>
            </a:pPr>
            <a:r>
              <a:rPr dirty="0">
                <a:latin typeface="Arial"/>
              </a:rPr>
              <a:t>No legally binding digital FIR functionality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572000"/>
            <a:ext cx="749807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4572000"/>
            <a:ext cx="64008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2012" y="4626312"/>
            <a:ext cx="7269479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1F497D"/>
                </a:solidFill>
                <a:latin typeface="Arial"/>
              </a:rPr>
              <a:t>Scope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776" y="5001031"/>
            <a:ext cx="7269479" cy="54784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The project investigates technical feasibility and does not claim operational or legal deployment.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Expected Benefits and Success Criteria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234440"/>
            <a:ext cx="3749039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64008" cy="4343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582" y="1344168"/>
            <a:ext cx="3218225" cy="3170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1F497D"/>
                </a:solidFill>
                <a:latin typeface="Arial"/>
              </a:rPr>
              <a:t>Expected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37360"/>
            <a:ext cx="3520439" cy="3517886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Improved record integrity through cryptographic verification</a:t>
            </a:r>
            <a:endParaRPr lang="en-US" sz="15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Stronger accountability through RBAC and blockchain audit trails</a:t>
            </a:r>
            <a:endParaRPr lang="en-US" sz="15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Clearer visibility into the FIR lifecycle</a:t>
            </a:r>
            <a:endParaRPr lang="en-US" sz="15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Tamper evident evidence and document history</a:t>
            </a:r>
            <a:endParaRPr lang="en-US" sz="1500" dirty="0"/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Practical demonstration of permissioned blockchain in a public sector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234440"/>
            <a:ext cx="3749039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26280" y="1234440"/>
            <a:ext cx="64008" cy="43434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50691" y="1353404"/>
            <a:ext cx="3251476" cy="31701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700" b="1" dirty="0">
                <a:solidFill>
                  <a:srgbClr val="DAA520"/>
                </a:solidFill>
                <a:latin typeface="Arial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737360"/>
            <a:ext cx="3520439" cy="305622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Authorized users authenticate and roles are enforced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FIRs move through defined workflow states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Evidence hashes are generated and verified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Key operations produce blockchain transactions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History can be retrieved and reconstructed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Unauthorized actions are rejected</a:t>
            </a:r>
            <a:endParaRPr lang="en-US" sz="15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500" b="0" dirty="0">
                <a:solidFill>
                  <a:srgbClr val="141414"/>
                </a:solidFill>
              </a:rPr>
              <a:t>End to end prototype works with synthetic data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45720" tIns="18288" rIns="45720" bIns="18288"/>
          <a:lstStyle/>
          <a:p>
            <a:r>
              <a:rPr sz="2600" b="1">
                <a:solidFill>
                  <a:srgbClr val="1F497D"/>
                </a:solidFill>
                <a:latin typeface="Arial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77240" y="304800"/>
            <a:ext cx="7701742" cy="2271391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>
              <a:lnSpc>
                <a:spcPct val="150000"/>
              </a:lnSpc>
            </a:pPr>
            <a:r>
              <a:rPr sz="2400" b="1" dirty="0">
                <a:solidFill>
                  <a:srgbClr val="1F497D"/>
                </a:solidFill>
                <a:latin typeface="Arial"/>
              </a:rPr>
              <a:t>Digital FIR combines a conventional secure database with a permissioned </a:t>
            </a:r>
            <a:r>
              <a:rPr sz="2400" b="1" dirty="0" err="1">
                <a:solidFill>
                  <a:srgbClr val="1F497D"/>
                </a:solidFill>
                <a:latin typeface="Arial"/>
              </a:rPr>
              <a:t>Hyperledger</a:t>
            </a:r>
            <a:r>
              <a:rPr sz="2400" b="1" dirty="0">
                <a:solidFill>
                  <a:srgbClr val="1F497D"/>
                </a:solidFill>
                <a:latin typeface="Arial"/>
              </a:rPr>
              <a:t> Fabric layer to improve integrity, traceability and auditability of FIR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72968"/>
            <a:ext cx="6949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3569" y="3163732"/>
            <a:ext cx="64008" cy="114300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3668" y="3235490"/>
            <a:ext cx="6720840" cy="332399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800" b="1" dirty="0">
                <a:solidFill>
                  <a:srgbClr val="DAA520"/>
                </a:solidFill>
                <a:latin typeface="Arial"/>
              </a:rPr>
              <a:t>Core idea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3634038"/>
            <a:ext cx="6720840" cy="54784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l"/>
            <a:r>
              <a:rPr sz="1600" b="0" dirty="0">
                <a:solidFill>
                  <a:srgbClr val="141414"/>
                </a:solidFill>
                <a:latin typeface="Arial"/>
              </a:rPr>
              <a:t>Sensitive information stays off chain. Hashes, transactions, workflow events</a:t>
            </a:r>
            <a:r>
              <a:rPr lang="en-US" sz="1600" b="0" dirty="0">
                <a:solidFill>
                  <a:srgbClr val="141414"/>
                </a:solidFill>
                <a:latin typeface="Arial"/>
              </a:rPr>
              <a:t> and</a:t>
            </a:r>
            <a:r>
              <a:rPr sz="1600" b="0" dirty="0">
                <a:solidFill>
                  <a:srgbClr val="141414"/>
                </a:solidFill>
                <a:latin typeface="Arial"/>
              </a:rPr>
              <a:t> integrity metadata provide the verifiable audit layer.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6949440" cy="8229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ctr"/>
            <a:r>
              <a:rPr sz="2400" b="1">
                <a:solidFill>
                  <a:srgbClr val="1F497D"/>
                </a:solidFill>
                <a:latin typeface="Arial"/>
              </a:rPr>
              <a:t>Thank You</a:t>
            </a:r>
            <a:r>
              <a:t/>
            </a:r>
            <a:br/>
            <a:r>
              <a:rPr sz="2400" b="1">
                <a:solidFill>
                  <a:srgbClr val="1F497D"/>
                </a:solidFill>
                <a:latin typeface="Arial"/>
              </a:rPr>
              <a:t>Questions?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1151</Words>
  <Application>Microsoft Office PowerPoint</Application>
  <PresentationFormat>On-screen Show (4:3)</PresentationFormat>
  <Paragraphs>222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Wingdings</vt:lpstr>
      <vt:lpstr>Office Theme</vt:lpstr>
      <vt:lpstr>Final Year Project Proposal</vt:lpstr>
      <vt:lpstr>Project Team</vt:lpstr>
      <vt:lpstr>Table of Content</vt:lpstr>
      <vt:lpstr>INTRODUCTION AND BACKGROUND</vt:lpstr>
      <vt:lpstr>Introduction and Background</vt:lpstr>
      <vt:lpstr>EXISTING SYSTEMS IN PAKISTAN</vt:lpstr>
      <vt:lpstr>Existing Systems and Comparison</vt:lpstr>
      <vt:lpstr>PowerPoint Presentation</vt:lpstr>
      <vt:lpstr>GAP ANALYSIS</vt:lpstr>
      <vt:lpstr>Research Gap and Novelty</vt:lpstr>
      <vt:lpstr>PROBLEM STATEMENT</vt:lpstr>
      <vt:lpstr>Problem Statement and Objectives</vt:lpstr>
      <vt:lpstr>PROPOSED SOLUTION AND METHODOLOGY</vt:lpstr>
      <vt:lpstr>Hybrid On Chain and Off Chain Design</vt:lpstr>
      <vt:lpstr>System Architecture and Technology Stack</vt:lpstr>
      <vt:lpstr>PowerPoint Presentation</vt:lpstr>
      <vt:lpstr>PROJECT SCOPE</vt:lpstr>
      <vt:lpstr>Project Scope</vt:lpstr>
      <vt:lpstr>Work Breakdown Structure</vt:lpstr>
      <vt:lpstr>Roles and Responsibilities</vt:lpstr>
      <vt:lpstr>CONSTRAINTS AND LIMITATIONS</vt:lpstr>
      <vt:lpstr>Constraints and Limitations</vt:lpstr>
      <vt:lpstr>Expected Benefits and Success Criteria</vt:lpstr>
      <vt:lpstr>CONCLUSION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Microsoft account</cp:lastModifiedBy>
  <cp:revision>38</cp:revision>
  <dcterms:created xsi:type="dcterms:W3CDTF">2013-01-22T07:04:44Z</dcterms:created>
  <dcterms:modified xsi:type="dcterms:W3CDTF">2026-09-17T05:40:18Z</dcterms:modified>
</cp:coreProperties>
</file>