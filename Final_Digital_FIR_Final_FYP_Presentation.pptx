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6858000" type="screen4x3"/>
  <p:notesSz cx="7315200" cy="96012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7" roundtripDataSignature="AMtx7mgqso+muD7qxSKyk66oXGt+27nMB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83" d="100"/>
          <a:sy n="83" d="100"/>
        </p:scale>
        <p:origin x="1450" y="67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customschemas.google.com/relationships/presentationmetadata" Target="metadata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219425" y="720075"/>
            <a:ext cx="4877025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71145307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0335667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89" name="Google Shape;8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61152607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3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95" name="Google Shape;95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3921240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4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1" name="Google Shape;101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180094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5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7" name="Google Shape;107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66106053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6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3" name="Google Shape;113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25056962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7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9" name="Google Shape;119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66625341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2039867fdc9_0_11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00" cy="43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25" name="Google Shape;125;g2039867fdc9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317016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2039867fdc9_0_16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00" cy="432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31" name="Google Shape;131;g2039867fdc9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77849003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8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37" name="Google Shape;137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48767938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9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43" name="Google Shape;143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89520667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10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49" name="Google Shape;149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9451095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1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55" name="Google Shape;155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30342246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12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61" name="Google Shape;161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21787065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13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67" name="Google Shape;167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51156212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6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73" name="Google Shape;173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75045990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7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79" name="Google Shape;179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3986210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5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15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4" name="Google Shape;14;p1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1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1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1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1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7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4000" b="1" cap="none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7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1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1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8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2" name="Google Shape;32;p18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3" name="Google Shape;33;p1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1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9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9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9" name="Google Shape;39;p19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0" name="Google Shape;40;p19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19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2" name="Google Shape;42;p1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1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0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2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318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22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2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3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3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3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2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2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4"/>
          <p:cNvSpPr txBox="1">
            <a:spLocks noGrp="1"/>
          </p:cNvSpPr>
          <p:nvPr>
            <p:ph type="body" idx="1"/>
          </p:nvPr>
        </p:nvSpPr>
        <p:spPr>
          <a:xfrm rot="5400000">
            <a:off x="2309018" y="-251619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2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2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5"/>
          <p:cNvSpPr txBox="1">
            <a:spLocks noGrp="1"/>
          </p:cNvSpPr>
          <p:nvPr>
            <p:ph type="title"/>
          </p:nvPr>
        </p:nvSpPr>
        <p:spPr>
          <a:xfrm rot="5400000">
            <a:off x="4732337" y="2171700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5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1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2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2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3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p1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318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Google Shape;9;p1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" name="Google Shape;10;p1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0" tIns="18288" rIns="45720" bIns="18288" anchor="ctr" anchorCtr="0">
            <a:noAutofit/>
          </a:bodyPr>
          <a:lstStyle/>
          <a:p>
            <a:pPr algn="ctr"/>
            <a:r>
              <a:rPr sz="3000" b="1">
                <a:solidFill>
                  <a:srgbClr val="1F497D"/>
                </a:solidFill>
                <a:latin typeface="Arial"/>
              </a:rPr>
              <a:t>Final Year Project Proposal</a:t>
            </a:r>
          </a:p>
        </p:txBody>
      </p:sp>
      <p:sp>
        <p:nvSpPr>
          <p:cNvPr id="85" name="Google Shape;85;p1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0" tIns="18288" rIns="45720" bIns="18288" anchor="t" anchorCtr="0">
            <a:normAutofit/>
          </a:bodyPr>
          <a:lstStyle/>
          <a:p>
            <a:pPr algn="ctr"/>
            <a:r>
              <a:rPr sz="1800" b="0">
                <a:solidFill>
                  <a:srgbClr val="141414"/>
                </a:solidFill>
                <a:latin typeface="Arial"/>
              </a:rPr>
              <a:t>Digital FIR</a:t>
            </a:r>
          </a:p>
          <a:p>
            <a:pPr algn="ctr"/>
            <a:r>
              <a:rPr sz="1800" b="0">
                <a:solidFill>
                  <a:srgbClr val="141414"/>
                </a:solidFill>
                <a:latin typeface="Arial"/>
              </a:rPr>
              <a:t>A Blockchain Based Secure First Information Report Management System for the Pakistan Police</a:t>
            </a:r>
          </a:p>
          <a:p>
            <a:pPr algn="ctr"/>
            <a:endParaRPr sz="1800" b="0">
              <a:solidFill>
                <a:srgbClr val="141414"/>
              </a:solidFill>
              <a:latin typeface="Arial"/>
            </a:endParaRPr>
          </a:p>
          <a:p>
            <a:pPr algn="ctr"/>
            <a:r>
              <a:rPr sz="1800" b="0">
                <a:solidFill>
                  <a:srgbClr val="141414"/>
                </a:solidFill>
                <a:latin typeface="Arial"/>
              </a:rPr>
              <a:t>Supervised By: Tabassum Javed</a:t>
            </a:r>
          </a:p>
        </p:txBody>
      </p:sp>
      <p:pic>
        <p:nvPicPr>
          <p:cNvPr id="86" name="Google Shape;86;p1" descr="Riphah.jpg"/>
          <p:cNvPicPr preferRelativeResize="0"/>
          <p:nvPr/>
        </p:nvPicPr>
        <p:blipFill rotWithShape="1">
          <a:blip r:embed="rId4">
            <a:alphaModFix/>
          </a:blip>
          <a:srcRect l="3033" t="4065" r="6926" b="4925"/>
          <a:stretch/>
        </p:blipFill>
        <p:spPr>
          <a:xfrm>
            <a:off x="4076700" y="1295400"/>
            <a:ext cx="990600" cy="1295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3400">
        <p14:reveal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0" tIns="18288" rIns="45720" bIns="18288" anchor="ctr" anchorCtr="0">
            <a:noAutofit/>
          </a:bodyPr>
          <a:lstStyle/>
          <a:p>
            <a:r>
              <a:rPr sz="2600" b="1">
                <a:solidFill>
                  <a:srgbClr val="1F497D"/>
                </a:solidFill>
                <a:latin typeface="Arial"/>
              </a:rPr>
              <a:t>Project Team</a:t>
            </a:r>
          </a:p>
        </p:txBody>
      </p:sp>
      <p:sp>
        <p:nvSpPr>
          <p:cNvPr id="92" name="Google Shape;92;p2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3152" tIns="36576" rIns="73152" bIns="36576" anchor="t" anchorCtr="0">
            <a:no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141414"/>
                </a:solidFill>
                <a:latin typeface="Arial"/>
              </a:defRPr>
            </a:pPr>
            <a:r>
              <a:rPr>
                <a:latin typeface="Arial"/>
              </a:rPr>
              <a:t>Sharaiz Ahmed (57288)</a:t>
            </a:r>
          </a:p>
          <a:p>
            <a:pPr>
              <a:spcAft>
                <a:spcPts val="600"/>
              </a:spcAft>
              <a:defRPr sz="2200">
                <a:solidFill>
                  <a:srgbClr val="141414"/>
                </a:solidFill>
                <a:latin typeface="Arial"/>
              </a:defRPr>
            </a:pPr>
            <a:r>
              <a:rPr>
                <a:latin typeface="Arial"/>
              </a:rPr>
              <a:t>Abdul Moiz (54482)</a:t>
            </a:r>
          </a:p>
          <a:p>
            <a:pPr>
              <a:spcAft>
                <a:spcPts val="600"/>
              </a:spcAft>
              <a:defRPr sz="2200">
                <a:solidFill>
                  <a:srgbClr val="141414"/>
                </a:solidFill>
                <a:latin typeface="Arial"/>
              </a:defRPr>
            </a:pPr>
            <a:r>
              <a:rPr>
                <a:latin typeface="Arial"/>
              </a:rPr>
              <a:t>Basit Ali (54596)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circle/>
      </p:transition>
    </mc:Choice>
    <mc:Fallback>
      <p:transition spd="slow">
        <p:circle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3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0" tIns="18288" rIns="45720" bIns="18288" anchor="ctr" anchorCtr="0">
            <a:noAutofit/>
          </a:bodyPr>
          <a:lstStyle/>
          <a:p>
            <a:r>
              <a:rPr sz="2600" b="1">
                <a:solidFill>
                  <a:srgbClr val="1F497D"/>
                </a:solidFill>
                <a:latin typeface="Arial"/>
              </a:rPr>
              <a:t>Table of Content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40080" y="1508760"/>
            <a:ext cx="3749039" cy="4206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41414"/>
                </a:solidFill>
                <a:latin typeface="Arial"/>
              </a:defRPr>
            </a:pPr>
            <a:r>
              <a:rPr>
                <a:latin typeface="Arial"/>
              </a:rPr>
              <a:t>• Introduction and Background</a:t>
            </a:r>
          </a:p>
          <a:p>
            <a:pPr>
              <a:spcAft>
                <a:spcPts val="600"/>
              </a:spcAft>
              <a:defRPr sz="1600">
                <a:solidFill>
                  <a:srgbClr val="141414"/>
                </a:solidFill>
                <a:latin typeface="Arial"/>
              </a:defRPr>
            </a:pPr>
            <a:r>
              <a:rPr>
                <a:latin typeface="Arial"/>
              </a:rPr>
              <a:t>• Existing Systems in Pakistan</a:t>
            </a:r>
          </a:p>
          <a:p>
            <a:pPr>
              <a:spcAft>
                <a:spcPts val="600"/>
              </a:spcAft>
              <a:defRPr sz="1600">
                <a:solidFill>
                  <a:srgbClr val="141414"/>
                </a:solidFill>
                <a:latin typeface="Arial"/>
              </a:defRPr>
            </a:pPr>
            <a:r>
              <a:rPr>
                <a:latin typeface="Arial"/>
              </a:rPr>
              <a:t>• Gap Analysis</a:t>
            </a:r>
          </a:p>
          <a:p>
            <a:pPr>
              <a:spcAft>
                <a:spcPts val="600"/>
              </a:spcAft>
              <a:defRPr sz="1600">
                <a:solidFill>
                  <a:srgbClr val="141414"/>
                </a:solidFill>
                <a:latin typeface="Arial"/>
              </a:defRPr>
            </a:pPr>
            <a:r>
              <a:rPr>
                <a:latin typeface="Arial"/>
              </a:rPr>
              <a:t>• Problem Statement</a:t>
            </a:r>
          </a:p>
          <a:p>
            <a:pPr>
              <a:spcAft>
                <a:spcPts val="600"/>
              </a:spcAft>
              <a:defRPr sz="1600">
                <a:solidFill>
                  <a:srgbClr val="141414"/>
                </a:solidFill>
                <a:latin typeface="Arial"/>
              </a:defRPr>
            </a:pPr>
            <a:r>
              <a:rPr>
                <a:latin typeface="Arial"/>
              </a:rPr>
              <a:t>• Proposed Solution and Methodology</a:t>
            </a:r>
          </a:p>
          <a:p>
            <a:pPr>
              <a:spcAft>
                <a:spcPts val="600"/>
              </a:spcAft>
              <a:defRPr sz="1600">
                <a:solidFill>
                  <a:srgbClr val="141414"/>
                </a:solidFill>
                <a:latin typeface="Arial"/>
              </a:defRPr>
            </a:pPr>
            <a:r>
              <a:rPr>
                <a:latin typeface="Arial"/>
              </a:rPr>
              <a:t>• System Architecture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434840" y="1508760"/>
            <a:ext cx="3749039" cy="42062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41414"/>
                </a:solidFill>
                <a:latin typeface="Arial"/>
              </a:defRPr>
            </a:pPr>
            <a:r>
              <a:rPr>
                <a:latin typeface="Arial"/>
              </a:rPr>
              <a:t>• Project Scope</a:t>
            </a:r>
          </a:p>
          <a:p>
            <a:pPr>
              <a:spcAft>
                <a:spcPts val="600"/>
              </a:spcAft>
              <a:defRPr sz="1600">
                <a:solidFill>
                  <a:srgbClr val="141414"/>
                </a:solidFill>
                <a:latin typeface="Arial"/>
              </a:defRPr>
            </a:pPr>
            <a:r>
              <a:rPr>
                <a:latin typeface="Arial"/>
              </a:rPr>
              <a:t>• Work Breakdown Structure</a:t>
            </a:r>
          </a:p>
          <a:p>
            <a:pPr>
              <a:spcAft>
                <a:spcPts val="600"/>
              </a:spcAft>
              <a:defRPr sz="1600">
                <a:solidFill>
                  <a:srgbClr val="141414"/>
                </a:solidFill>
                <a:latin typeface="Arial"/>
              </a:defRPr>
            </a:pPr>
            <a:r>
              <a:rPr>
                <a:latin typeface="Arial"/>
              </a:rPr>
              <a:t>• Roles and Responsibilities</a:t>
            </a:r>
          </a:p>
          <a:p>
            <a:pPr>
              <a:spcAft>
                <a:spcPts val="600"/>
              </a:spcAft>
              <a:defRPr sz="1600">
                <a:solidFill>
                  <a:srgbClr val="141414"/>
                </a:solidFill>
                <a:latin typeface="Arial"/>
              </a:defRPr>
            </a:pPr>
            <a:r>
              <a:rPr>
                <a:latin typeface="Arial"/>
              </a:rPr>
              <a:t>• Constraints and Limitations</a:t>
            </a:r>
          </a:p>
          <a:p>
            <a:pPr>
              <a:spcAft>
                <a:spcPts val="600"/>
              </a:spcAft>
              <a:defRPr sz="1600">
                <a:solidFill>
                  <a:srgbClr val="141414"/>
                </a:solidFill>
                <a:latin typeface="Arial"/>
              </a:defRPr>
            </a:pPr>
            <a:r>
              <a:rPr>
                <a:latin typeface="Arial"/>
              </a:rPr>
              <a:t>• Expected Benefits and Success Criteria</a:t>
            </a:r>
          </a:p>
          <a:p>
            <a:pPr>
              <a:spcAft>
                <a:spcPts val="600"/>
              </a:spcAft>
              <a:defRPr sz="1600">
                <a:solidFill>
                  <a:srgbClr val="141414"/>
                </a:solidFill>
                <a:latin typeface="Arial"/>
              </a:defRPr>
            </a:pPr>
            <a:r>
              <a:rPr>
                <a:latin typeface="Arial"/>
              </a:rPr>
              <a:t>• Conclusion and Q&amp;A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4"/>
          <p:cNvSpPr txBox="1">
            <a:spLocks noGrp="1"/>
          </p:cNvSpPr>
          <p:nvPr>
            <p:ph type="title"/>
          </p:nvPr>
        </p:nvSpPr>
        <p:spPr>
          <a:xfrm>
            <a:off x="750023" y="2854037"/>
            <a:ext cx="7772400" cy="4818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0" tIns="18288" rIns="45720" bIns="18288" anchor="t" anchorCtr="0">
            <a:normAutofit/>
          </a:bodyPr>
          <a:lstStyle/>
          <a:p>
            <a:r>
              <a:rPr sz="2600" b="1" dirty="0">
                <a:solidFill>
                  <a:srgbClr val="1F497D"/>
                </a:solidFill>
                <a:latin typeface="Arial"/>
              </a:rPr>
              <a:t>INTRODUCTION AND BACKGROUND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flash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5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0" tIns="18288" rIns="45720" bIns="18288" anchor="ctr" anchorCtr="0">
            <a:noAutofit/>
          </a:bodyPr>
          <a:lstStyle/>
          <a:p>
            <a:r>
              <a:rPr sz="2600" b="1">
                <a:solidFill>
                  <a:srgbClr val="1F497D"/>
                </a:solidFill>
                <a:latin typeface="Arial"/>
              </a:rPr>
              <a:t>Introduction and Background</a:t>
            </a:r>
          </a:p>
        </p:txBody>
      </p:sp>
      <p:sp>
        <p:nvSpPr>
          <p:cNvPr id="110" name="Google Shape;110;p5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endParaRPr/>
          </a:p>
        </p:txBody>
      </p:sp>
      <p:sp>
        <p:nvSpPr>
          <p:cNvPr id="111" name="Rounded Rectangle 110"/>
          <p:cNvSpPr/>
          <p:nvPr/>
        </p:nvSpPr>
        <p:spPr>
          <a:xfrm>
            <a:off x="594360" y="1508760"/>
            <a:ext cx="3749039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2" name="Rectangle 111"/>
          <p:cNvSpPr/>
          <p:nvPr/>
        </p:nvSpPr>
        <p:spPr>
          <a:xfrm>
            <a:off x="594360" y="1508760"/>
            <a:ext cx="64008" cy="187451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3" name="TextBox 112"/>
          <p:cNvSpPr txBox="1"/>
          <p:nvPr/>
        </p:nvSpPr>
        <p:spPr>
          <a:xfrm>
            <a:off x="749808" y="1618488"/>
            <a:ext cx="3520439" cy="34747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700" b="1">
                <a:solidFill>
                  <a:srgbClr val="1F497D"/>
                </a:solidFill>
                <a:latin typeface="Arial"/>
              </a:rPr>
              <a:t>What is an FIR?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749808" y="2011680"/>
            <a:ext cx="3520439" cy="917174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400" b="0" dirty="0">
                <a:solidFill>
                  <a:srgbClr val="141414"/>
                </a:solidFill>
                <a:latin typeface="Arial"/>
              </a:rPr>
              <a:t>An FIR formally opens the criminal justice process. It records the reported offence, identifies the </a:t>
            </a:r>
            <a:r>
              <a:rPr sz="1400" b="0" dirty="0" smtClean="0">
                <a:solidFill>
                  <a:srgbClr val="141414"/>
                </a:solidFill>
                <a:latin typeface="Arial"/>
              </a:rPr>
              <a:t>parties</a:t>
            </a:r>
            <a:r>
              <a:rPr lang="en-US" sz="1400" b="0" dirty="0" smtClean="0">
                <a:solidFill>
                  <a:srgbClr val="141414"/>
                </a:solidFill>
                <a:latin typeface="Arial"/>
              </a:rPr>
              <a:t> and</a:t>
            </a:r>
            <a:r>
              <a:rPr sz="1400" b="0" dirty="0" smtClean="0">
                <a:solidFill>
                  <a:srgbClr val="141414"/>
                </a:solidFill>
                <a:latin typeface="Arial"/>
              </a:rPr>
              <a:t> </a:t>
            </a:r>
            <a:r>
              <a:rPr sz="1400" b="0" dirty="0">
                <a:solidFill>
                  <a:srgbClr val="141414"/>
                </a:solidFill>
                <a:latin typeface="Arial"/>
              </a:rPr>
              <a:t>starts investigation.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4572000" y="1508760"/>
            <a:ext cx="3749039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6" name="Rectangle 115"/>
          <p:cNvSpPr/>
          <p:nvPr/>
        </p:nvSpPr>
        <p:spPr>
          <a:xfrm>
            <a:off x="4572000" y="1508760"/>
            <a:ext cx="64008" cy="1874519"/>
          </a:xfrm>
          <a:prstGeom prst="rect">
            <a:avLst/>
          </a:prstGeom>
          <a:solidFill>
            <a:srgbClr val="DAA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7" name="TextBox 116"/>
          <p:cNvSpPr txBox="1"/>
          <p:nvPr/>
        </p:nvSpPr>
        <p:spPr>
          <a:xfrm>
            <a:off x="4727448" y="1618488"/>
            <a:ext cx="3520439" cy="34747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700" b="1">
                <a:solidFill>
                  <a:srgbClr val="DAA520"/>
                </a:solidFill>
                <a:latin typeface="Arial"/>
              </a:rPr>
              <a:t>Current situation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727448" y="2011680"/>
            <a:ext cx="3520439" cy="701731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400" b="0" dirty="0">
                <a:solidFill>
                  <a:srgbClr val="141414"/>
                </a:solidFill>
                <a:latin typeface="Arial"/>
              </a:rPr>
              <a:t>Punjab, </a:t>
            </a:r>
            <a:r>
              <a:rPr sz="1400" b="0" dirty="0" smtClean="0">
                <a:solidFill>
                  <a:srgbClr val="141414"/>
                </a:solidFill>
                <a:latin typeface="Arial"/>
              </a:rPr>
              <a:t>Sindh</a:t>
            </a:r>
            <a:r>
              <a:rPr lang="en-US" sz="1400" b="0" dirty="0" smtClean="0">
                <a:solidFill>
                  <a:srgbClr val="141414"/>
                </a:solidFill>
                <a:latin typeface="Arial"/>
              </a:rPr>
              <a:t> and</a:t>
            </a:r>
            <a:r>
              <a:rPr sz="1400" b="0" dirty="0" smtClean="0">
                <a:solidFill>
                  <a:srgbClr val="141414"/>
                </a:solidFill>
                <a:latin typeface="Arial"/>
              </a:rPr>
              <a:t> </a:t>
            </a:r>
            <a:r>
              <a:rPr sz="1400" b="0" dirty="0">
                <a:solidFill>
                  <a:srgbClr val="141414"/>
                </a:solidFill>
                <a:latin typeface="Arial"/>
              </a:rPr>
              <a:t>KP already use digital complaint and record systems. The project does not aim to replace these systems.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594360" y="3611880"/>
            <a:ext cx="7726679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0" name="Rectangle 119"/>
          <p:cNvSpPr/>
          <p:nvPr/>
        </p:nvSpPr>
        <p:spPr>
          <a:xfrm>
            <a:off x="594360" y="3611880"/>
            <a:ext cx="64008" cy="187451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1" name="TextBox 120"/>
          <p:cNvSpPr txBox="1"/>
          <p:nvPr/>
        </p:nvSpPr>
        <p:spPr>
          <a:xfrm>
            <a:off x="749808" y="3721608"/>
            <a:ext cx="7498079" cy="34747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700" b="1">
                <a:solidFill>
                  <a:srgbClr val="1F497D"/>
                </a:solidFill>
                <a:latin typeface="Arial"/>
              </a:rPr>
              <a:t>What this project adds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49808" y="4114800"/>
            <a:ext cx="7498079" cy="486287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400" b="0" dirty="0">
                <a:solidFill>
                  <a:srgbClr val="141414"/>
                </a:solidFill>
                <a:latin typeface="Arial"/>
              </a:rPr>
              <a:t>A permissioned </a:t>
            </a:r>
            <a:r>
              <a:rPr sz="1400" b="0" dirty="0" err="1">
                <a:solidFill>
                  <a:srgbClr val="141414"/>
                </a:solidFill>
                <a:latin typeface="Arial"/>
              </a:rPr>
              <a:t>Hyperledger</a:t>
            </a:r>
            <a:r>
              <a:rPr sz="1400" b="0" dirty="0">
                <a:solidFill>
                  <a:srgbClr val="141414"/>
                </a:solidFill>
                <a:latin typeface="Arial"/>
              </a:rPr>
              <a:t> Fabric layer for integrity, </a:t>
            </a:r>
            <a:r>
              <a:rPr sz="1400" b="0" dirty="0" smtClean="0">
                <a:solidFill>
                  <a:srgbClr val="141414"/>
                </a:solidFill>
                <a:latin typeface="Arial"/>
              </a:rPr>
              <a:t>traceability</a:t>
            </a:r>
            <a:r>
              <a:rPr lang="en-US" sz="1400" b="0" dirty="0" smtClean="0">
                <a:solidFill>
                  <a:srgbClr val="141414"/>
                </a:solidFill>
                <a:latin typeface="Arial"/>
              </a:rPr>
              <a:t> and</a:t>
            </a:r>
            <a:r>
              <a:rPr sz="1400" b="0" dirty="0" smtClean="0">
                <a:solidFill>
                  <a:srgbClr val="141414"/>
                </a:solidFill>
                <a:latin typeface="Arial"/>
              </a:rPr>
              <a:t> </a:t>
            </a:r>
            <a:r>
              <a:rPr sz="1400" b="0" dirty="0">
                <a:solidFill>
                  <a:srgbClr val="141414"/>
                </a:solidFill>
                <a:latin typeface="Arial"/>
              </a:rPr>
              <a:t>tamper evident auditing, while sensitive FIR data stays off chain.</a:t>
            </a:r>
          </a:p>
        </p:txBody>
      </p:sp>
    </p:spTree>
  </p:cSld>
  <p:clrMapOvr>
    <a:masterClrMapping/>
  </p:clrMapOvr>
  <p:transition spd="med">
    <p:pull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6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0" tIns="18288" rIns="45720" bIns="18288" anchor="t" anchorCtr="0">
            <a:normAutofit/>
          </a:bodyPr>
          <a:lstStyle/>
          <a:p>
            <a:r>
              <a:rPr sz="2600" b="1">
                <a:solidFill>
                  <a:srgbClr val="1F497D"/>
                </a:solidFill>
                <a:latin typeface="Arial"/>
              </a:rPr>
              <a:t>EXISTING SYSTEMS IN PAKISTAN</a:t>
            </a:r>
          </a:p>
        </p:txBody>
      </p:sp>
    </p:spTree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0" tIns="18288" rIns="45720" bIns="18288" anchor="ctr" anchorCtr="0">
            <a:noAutofit/>
          </a:bodyPr>
          <a:lstStyle/>
          <a:p>
            <a:r>
              <a:rPr sz="2600" b="1">
                <a:solidFill>
                  <a:srgbClr val="1F497D"/>
                </a:solidFill>
                <a:latin typeface="Arial"/>
              </a:rPr>
              <a:t>Existing Systems and Comparison</a:t>
            </a:r>
          </a:p>
        </p:txBody>
      </p:sp>
      <p:sp>
        <p:nvSpPr>
          <p:cNvPr id="122" name="Google Shape;122;p7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endParaRPr/>
          </a:p>
        </p:txBody>
      </p:sp>
      <p:graphicFrame>
        <p:nvGraphicFramePr>
          <p:cNvPr id="123" name="Table 122"/>
          <p:cNvGraphicFramePr>
            <a:graphicFrameLocks noGrp="1"/>
          </p:cNvGraphicFramePr>
          <p:nvPr/>
        </p:nvGraphicFramePr>
        <p:xfrm>
          <a:off x="411480" y="1417320"/>
          <a:ext cx="832104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143000"/>
                <a:gridCol w="1143000"/>
                <a:gridCol w="1143000"/>
                <a:gridCol w="2606040"/>
              </a:tblGrid>
              <a:tr h="56007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Capability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Punjab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Sindh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KP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Digital FIR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41414"/>
                          </a:solidFill>
                          <a:latin typeface="Arial"/>
                        </a:rPr>
                        <a:t>Digital complaint submission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4141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4141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4141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4141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41414"/>
                          </a:solidFill>
                          <a:latin typeface="Arial"/>
                        </a:rPr>
                        <a:t>Digital FIR / case records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4141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4141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4141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4141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41414"/>
                          </a:solidFill>
                          <a:latin typeface="Arial"/>
                        </a:rPr>
                        <a:t>Case tracking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4141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4141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4141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4141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41414"/>
                          </a:solidFill>
                          <a:latin typeface="Arial"/>
                        </a:rPr>
                        <a:t>Officer assignment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4141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4141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4141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4141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41414"/>
                          </a:solidFill>
                          <a:latin typeface="Arial"/>
                        </a:rPr>
                        <a:t>Document hashing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41414"/>
                          </a:solidFill>
                          <a:latin typeface="Arial"/>
                        </a:rPr>
                        <a:t>Not documented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41414"/>
                          </a:solidFill>
                          <a:latin typeface="Arial"/>
                        </a:rPr>
                        <a:t>Not documented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41414"/>
                          </a:solidFill>
                          <a:latin typeface="Arial"/>
                        </a:rPr>
                        <a:t>Not documented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41414"/>
                          </a:solidFill>
                          <a:latin typeface="Arial"/>
                        </a:rPr>
                        <a:t>SHA 256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41414"/>
                          </a:solidFill>
                          <a:latin typeface="Arial"/>
                        </a:rPr>
                        <a:t>Permissioned blockchain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41414"/>
                          </a:solidFill>
                          <a:latin typeface="Arial"/>
                        </a:rPr>
                        <a:t>✗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41414"/>
                          </a:solidFill>
                          <a:latin typeface="Arial"/>
                        </a:rPr>
                        <a:t>✗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41414"/>
                          </a:solidFill>
                          <a:latin typeface="Arial"/>
                        </a:rPr>
                        <a:t>✗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41414"/>
                          </a:solidFill>
                          <a:latin typeface="Arial"/>
                        </a:rPr>
                        <a:t>✓</a:t>
                      </a:r>
                    </a:p>
                  </a:txBody>
                  <a:tcPr>
                    <a:solidFill>
                      <a:srgbClr val="F2F5F8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41414"/>
                          </a:solidFill>
                          <a:latin typeface="Arial"/>
                        </a:rPr>
                        <a:t>Tamper evident audit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41414"/>
                          </a:solidFill>
                          <a:latin typeface="Arial"/>
                        </a:rPr>
                        <a:t>Conventional logs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41414"/>
                          </a:solidFill>
                          <a:latin typeface="Arial"/>
                        </a:rPr>
                        <a:t>Conventional logs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41414"/>
                          </a:solidFill>
                          <a:latin typeface="Arial"/>
                        </a:rPr>
                        <a:t>Conventional logs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41414"/>
                          </a:solidFill>
                          <a:latin typeface="Arial"/>
                        </a:rPr>
                        <a:t>Blockchain + logs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2039867fdc9_0_11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0" tIns="18288" rIns="45720" bIns="18288" anchor="t" anchorCtr="0">
            <a:normAutofit/>
          </a:bodyPr>
          <a:lstStyle/>
          <a:p>
            <a:r>
              <a:rPr sz="2600" b="1">
                <a:solidFill>
                  <a:srgbClr val="1F497D"/>
                </a:solidFill>
                <a:latin typeface="Arial"/>
              </a:rPr>
              <a:t>GAP ANALYSIS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circle/>
      </p:transition>
    </mc:Choice>
    <mc:Fallback>
      <p:transition spd="slow">
        <p:circle/>
      </p:transition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2039867fdc9_0_1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0" tIns="18288" rIns="45720" bIns="18288" anchor="ctr" anchorCtr="0">
            <a:noAutofit/>
          </a:bodyPr>
          <a:lstStyle/>
          <a:p>
            <a:r>
              <a:rPr sz="2600" b="1">
                <a:solidFill>
                  <a:srgbClr val="1F497D"/>
                </a:solidFill>
                <a:latin typeface="Arial"/>
              </a:rPr>
              <a:t>Research Gap and Novelty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594360" y="1417320"/>
            <a:ext cx="370332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6" name="Rectangle 135"/>
          <p:cNvSpPr/>
          <p:nvPr/>
        </p:nvSpPr>
        <p:spPr>
          <a:xfrm>
            <a:off x="594360" y="1417320"/>
            <a:ext cx="64008" cy="19202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7" name="TextBox 136"/>
          <p:cNvSpPr txBox="1"/>
          <p:nvPr/>
        </p:nvSpPr>
        <p:spPr>
          <a:xfrm>
            <a:off x="749808" y="1527048"/>
            <a:ext cx="3474720" cy="34747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600" b="1">
                <a:solidFill>
                  <a:srgbClr val="1F497D"/>
                </a:solidFill>
                <a:latin typeface="Arial"/>
              </a:rPr>
              <a:t>Existing capability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49808" y="1920240"/>
            <a:ext cx="3474720" cy="655564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300" b="0" dirty="0">
                <a:solidFill>
                  <a:srgbClr val="141414"/>
                </a:solidFill>
                <a:latin typeface="Arial"/>
              </a:rPr>
              <a:t>Digital complaints, FIR records, tracking, </a:t>
            </a:r>
            <a:r>
              <a:rPr sz="1300" b="0" dirty="0" smtClean="0">
                <a:solidFill>
                  <a:srgbClr val="141414"/>
                </a:solidFill>
                <a:latin typeface="Arial"/>
              </a:rPr>
              <a:t>assignment</a:t>
            </a:r>
            <a:r>
              <a:rPr lang="en-US" sz="1300" b="0" dirty="0" smtClean="0">
                <a:solidFill>
                  <a:srgbClr val="141414"/>
                </a:solidFill>
                <a:latin typeface="Arial"/>
              </a:rPr>
              <a:t> and</a:t>
            </a:r>
            <a:r>
              <a:rPr sz="1300" b="0" dirty="0" smtClean="0">
                <a:solidFill>
                  <a:srgbClr val="141414"/>
                </a:solidFill>
                <a:latin typeface="Arial"/>
              </a:rPr>
              <a:t> </a:t>
            </a:r>
            <a:r>
              <a:rPr sz="1300" b="0" dirty="0">
                <a:solidFill>
                  <a:srgbClr val="141414"/>
                </a:solidFill>
                <a:latin typeface="Arial"/>
              </a:rPr>
              <a:t>supervisory monitoring already exist.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4572000" y="1417320"/>
            <a:ext cx="370332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0" name="Rectangle 139"/>
          <p:cNvSpPr/>
          <p:nvPr/>
        </p:nvSpPr>
        <p:spPr>
          <a:xfrm>
            <a:off x="4572000" y="1417320"/>
            <a:ext cx="64008" cy="1920240"/>
          </a:xfrm>
          <a:prstGeom prst="rect">
            <a:avLst/>
          </a:prstGeom>
          <a:solidFill>
            <a:srgbClr val="DAA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1" name="TextBox 140"/>
          <p:cNvSpPr txBox="1"/>
          <p:nvPr/>
        </p:nvSpPr>
        <p:spPr>
          <a:xfrm>
            <a:off x="4727448" y="1527048"/>
            <a:ext cx="3474720" cy="34747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600" b="1">
                <a:solidFill>
                  <a:srgbClr val="DAA520"/>
                </a:solidFill>
                <a:latin typeface="Arial"/>
              </a:rPr>
              <a:t>Identified gap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4727448" y="1920240"/>
            <a:ext cx="3474720" cy="132588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300" b="0">
                <a:solidFill>
                  <a:srgbClr val="141414"/>
                </a:solidFill>
                <a:latin typeface="Arial"/>
              </a:rPr>
              <a:t>Publicly documented systems do not identify permissioned blockchain integrity as a core feature.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594360" y="3566160"/>
            <a:ext cx="768096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4" name="Rectangle 143"/>
          <p:cNvSpPr/>
          <p:nvPr/>
        </p:nvSpPr>
        <p:spPr>
          <a:xfrm>
            <a:off x="594360" y="3566160"/>
            <a:ext cx="64008" cy="196596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5" name="TextBox 144"/>
          <p:cNvSpPr txBox="1"/>
          <p:nvPr/>
        </p:nvSpPr>
        <p:spPr>
          <a:xfrm>
            <a:off x="749808" y="3675887"/>
            <a:ext cx="7452360" cy="34747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600" b="1">
                <a:solidFill>
                  <a:srgbClr val="1F497D"/>
                </a:solidFill>
                <a:latin typeface="Arial"/>
              </a:rPr>
              <a:t>Project novelty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749808" y="4069080"/>
            <a:ext cx="7452360" cy="137160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300" b="0">
                <a:solidFill>
                  <a:srgbClr val="141414"/>
                </a:solidFill>
                <a:latin typeface="Arial"/>
              </a:rPr>
              <a:t>Integration of FIR workflow + permissioned blockchain + SHA 256 integrity checks + role based authorization + auditable evidence metadata.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350982" y="5641847"/>
            <a:ext cx="8100291" cy="270843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ctr"/>
            <a:r>
              <a:rPr sz="1400" b="1" dirty="0">
                <a:solidFill>
                  <a:srgbClr val="1F497D"/>
                </a:solidFill>
                <a:latin typeface="Arial"/>
              </a:rPr>
              <a:t>Research focus: strengthen integrity verification, </a:t>
            </a:r>
            <a:r>
              <a:rPr sz="1400" b="1" dirty="0" smtClean="0">
                <a:solidFill>
                  <a:srgbClr val="1F497D"/>
                </a:solidFill>
                <a:latin typeface="Arial"/>
              </a:rPr>
              <a:t>traceability</a:t>
            </a:r>
            <a:r>
              <a:rPr lang="en-US" sz="1400" b="1" dirty="0" smtClean="0">
                <a:solidFill>
                  <a:srgbClr val="1F497D"/>
                </a:solidFill>
                <a:latin typeface="Arial"/>
              </a:rPr>
              <a:t> and</a:t>
            </a:r>
            <a:r>
              <a:rPr sz="1400" b="1" dirty="0" smtClean="0">
                <a:solidFill>
                  <a:srgbClr val="1F497D"/>
                </a:solidFill>
                <a:latin typeface="Arial"/>
              </a:rPr>
              <a:t> </a:t>
            </a:r>
            <a:r>
              <a:rPr sz="1400" b="1" dirty="0">
                <a:solidFill>
                  <a:srgbClr val="1F497D"/>
                </a:solidFill>
                <a:latin typeface="Arial"/>
              </a:rPr>
              <a:t>tamper evident auditing.</a:t>
            </a:r>
          </a:p>
        </p:txBody>
      </p:sp>
    </p:spTree>
  </p:cSld>
  <p:clrMapOvr>
    <a:masterClrMapping/>
  </p:clrMapOvr>
  <p:transition spd="slow">
    <p:randomBar dir="vert"/>
  </p:transition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8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0" tIns="18288" rIns="45720" bIns="18288" anchor="t" anchorCtr="0">
            <a:normAutofit/>
          </a:bodyPr>
          <a:lstStyle/>
          <a:p>
            <a:r>
              <a:rPr sz="2600" b="1">
                <a:solidFill>
                  <a:srgbClr val="1F497D"/>
                </a:solidFill>
                <a:latin typeface="Arial"/>
              </a:rPr>
              <a:t>PROBLEM STATEMENT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flash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9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0" tIns="18288" rIns="45720" bIns="18288" anchor="ctr" anchorCtr="0">
            <a:noAutofit/>
          </a:bodyPr>
          <a:lstStyle/>
          <a:p>
            <a:r>
              <a:rPr sz="2600" b="1">
                <a:solidFill>
                  <a:srgbClr val="1F497D"/>
                </a:solidFill>
                <a:latin typeface="Arial"/>
              </a:rPr>
              <a:t>Problem Statement and Objectives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594360" y="1417320"/>
            <a:ext cx="7726679" cy="886397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800" b="0" dirty="0">
                <a:solidFill>
                  <a:srgbClr val="141414"/>
                </a:solidFill>
                <a:latin typeface="Arial"/>
              </a:rPr>
              <a:t>Centralized police information systems rely on trusted administrators and application level audit logs. The project needs a way to verify who changed a record, when it </a:t>
            </a:r>
            <a:r>
              <a:rPr sz="1800" b="0" dirty="0" smtClean="0">
                <a:solidFill>
                  <a:srgbClr val="141414"/>
                </a:solidFill>
                <a:latin typeface="Arial"/>
              </a:rPr>
              <a:t>changed</a:t>
            </a:r>
            <a:r>
              <a:rPr lang="en-US" sz="1800" b="0" dirty="0" smtClean="0">
                <a:solidFill>
                  <a:srgbClr val="141414"/>
                </a:solidFill>
                <a:latin typeface="Arial"/>
              </a:rPr>
              <a:t> and</a:t>
            </a:r>
            <a:r>
              <a:rPr sz="1800" b="0" dirty="0" smtClean="0">
                <a:solidFill>
                  <a:srgbClr val="141414"/>
                </a:solidFill>
                <a:latin typeface="Arial"/>
              </a:rPr>
              <a:t> </a:t>
            </a:r>
            <a:r>
              <a:rPr sz="1800" b="0" dirty="0">
                <a:solidFill>
                  <a:srgbClr val="141414"/>
                </a:solidFill>
                <a:latin typeface="Arial"/>
              </a:rPr>
              <a:t>whether related documents were altered.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94360" y="2788920"/>
            <a:ext cx="1828800" cy="32004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700" b="1">
                <a:solidFill>
                  <a:srgbClr val="1F497D"/>
                </a:solidFill>
                <a:latin typeface="Arial"/>
              </a:rPr>
              <a:t>Core objectives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94360" y="3154680"/>
            <a:ext cx="3703320" cy="24231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141414"/>
                </a:solidFill>
                <a:latin typeface="Arial"/>
              </a:defRPr>
            </a:pPr>
            <a:r>
              <a:rPr>
                <a:latin typeface="Arial"/>
              </a:rPr>
              <a:t>• Create a role based digital FIR interface</a:t>
            </a:r>
          </a:p>
          <a:p>
            <a:pPr>
              <a:spcAft>
                <a:spcPts val="400"/>
              </a:spcAft>
              <a:defRPr sz="1500">
                <a:solidFill>
                  <a:srgbClr val="141414"/>
                </a:solidFill>
                <a:latin typeface="Arial"/>
              </a:defRPr>
            </a:pPr>
            <a:r>
              <a:rPr>
                <a:latin typeface="Arial"/>
              </a:rPr>
              <a:t>• Secure authentication and backend authorization</a:t>
            </a:r>
          </a:p>
          <a:p>
            <a:pPr>
              <a:spcAft>
                <a:spcPts val="400"/>
              </a:spcAft>
              <a:defRPr sz="1500">
                <a:solidFill>
                  <a:srgbClr val="141414"/>
                </a:solidFill>
                <a:latin typeface="Arial"/>
              </a:defRPr>
            </a:pPr>
            <a:r>
              <a:rPr>
                <a:latin typeface="Arial"/>
              </a:rPr>
              <a:t>• Integrate Hyperledger Fabric and chaincode</a:t>
            </a:r>
          </a:p>
          <a:p>
            <a:pPr>
              <a:spcAft>
                <a:spcPts val="400"/>
              </a:spcAft>
              <a:defRPr sz="1500">
                <a:solidFill>
                  <a:srgbClr val="141414"/>
                </a:solidFill>
                <a:latin typeface="Arial"/>
              </a:defRPr>
            </a:pPr>
            <a:r>
              <a:rPr>
                <a:latin typeface="Arial"/>
              </a:rPr>
              <a:t>• Use SHA 256 for record and document integrity</a:t>
            </a:r>
          </a:p>
          <a:p>
            <a:pPr>
              <a:spcAft>
                <a:spcPts val="400"/>
              </a:spcAft>
              <a:defRPr sz="1500">
                <a:solidFill>
                  <a:srgbClr val="141414"/>
                </a:solidFill>
                <a:latin typeface="Arial"/>
              </a:defRPr>
            </a:pPr>
            <a:r>
              <a:rPr>
                <a:latin typeface="Arial"/>
              </a:rPr>
              <a:t>• Track FIRs from registration to closure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526280" y="3154680"/>
            <a:ext cx="3749039" cy="24231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141414"/>
                </a:solidFill>
                <a:latin typeface="Arial"/>
              </a:defRPr>
            </a:pPr>
            <a:r>
              <a:rPr>
                <a:latin typeface="Arial"/>
              </a:rPr>
              <a:t>• Maintain a chronological audit history</a:t>
            </a:r>
          </a:p>
          <a:p>
            <a:pPr>
              <a:spcAft>
                <a:spcPts val="400"/>
              </a:spcAft>
              <a:defRPr sz="1500">
                <a:solidFill>
                  <a:srgbClr val="141414"/>
                </a:solidFill>
                <a:latin typeface="Arial"/>
              </a:defRPr>
            </a:pPr>
            <a:r>
              <a:rPr>
                <a:latin typeface="Arial"/>
              </a:rPr>
              <a:t>• Register evidence metadata and hashes</a:t>
            </a:r>
          </a:p>
          <a:p>
            <a:pPr>
              <a:spcAft>
                <a:spcPts val="400"/>
              </a:spcAft>
              <a:defRPr sz="1500">
                <a:solidFill>
                  <a:srgbClr val="141414"/>
                </a:solidFill>
                <a:latin typeface="Arial"/>
              </a:defRPr>
            </a:pPr>
            <a:r>
              <a:rPr>
                <a:latin typeface="Arial"/>
              </a:rPr>
              <a:t>• Provide dashboards and reports</a:t>
            </a:r>
          </a:p>
          <a:p>
            <a:pPr>
              <a:spcAft>
                <a:spcPts val="400"/>
              </a:spcAft>
              <a:defRPr sz="1500">
                <a:solidFill>
                  <a:srgbClr val="141414"/>
                </a:solidFill>
                <a:latin typeface="Arial"/>
              </a:defRPr>
            </a:pPr>
            <a:r>
              <a:rPr>
                <a:latin typeface="Arial"/>
              </a:rPr>
              <a:t>• Notify users about important workflow events</a:t>
            </a:r>
          </a:p>
          <a:p>
            <a:pPr>
              <a:spcAft>
                <a:spcPts val="400"/>
              </a:spcAft>
              <a:defRPr sz="1500">
                <a:solidFill>
                  <a:srgbClr val="141414"/>
                </a:solidFill>
                <a:latin typeface="Arial"/>
              </a:defRPr>
            </a:pPr>
            <a:r>
              <a:rPr>
                <a:latin typeface="Arial"/>
              </a:rPr>
              <a:t>• Protect confidential information with controlled access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prestige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10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0" tIns="18288" rIns="45720" bIns="18288" anchor="t" anchorCtr="0">
            <a:normAutofit/>
          </a:bodyPr>
          <a:lstStyle/>
          <a:p>
            <a:r>
              <a:rPr sz="2600" b="1">
                <a:solidFill>
                  <a:srgbClr val="1F497D"/>
                </a:solidFill>
                <a:latin typeface="Arial"/>
              </a:rPr>
              <a:t>PROPOSED SOLUTION AND METHODOLOGY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eelOff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0" tIns="18288" rIns="45720" bIns="18288" anchor="ctr" anchorCtr="0">
            <a:noAutofit/>
          </a:bodyPr>
          <a:lstStyle/>
          <a:p>
            <a:r>
              <a:rPr sz="2600" b="1">
                <a:solidFill>
                  <a:srgbClr val="1F497D"/>
                </a:solidFill>
                <a:latin typeface="Arial"/>
              </a:rPr>
              <a:t>Hybrid On Chain and Off Chain Design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502920" y="1325880"/>
            <a:ext cx="3566160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0" name="Rectangle 159"/>
          <p:cNvSpPr/>
          <p:nvPr/>
        </p:nvSpPr>
        <p:spPr>
          <a:xfrm>
            <a:off x="502920" y="1325880"/>
            <a:ext cx="64008" cy="43434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1" name="TextBox 160"/>
          <p:cNvSpPr txBox="1"/>
          <p:nvPr/>
        </p:nvSpPr>
        <p:spPr>
          <a:xfrm>
            <a:off x="658368" y="1435607"/>
            <a:ext cx="3337560" cy="34747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700" b="1">
                <a:solidFill>
                  <a:srgbClr val="1F497D"/>
                </a:solidFill>
                <a:latin typeface="Arial"/>
              </a:rPr>
              <a:t>OFF CHAIN | Sensitive Data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58368" y="1828800"/>
            <a:ext cx="3337560" cy="187128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300" b="0" dirty="0">
                <a:solidFill>
                  <a:srgbClr val="141414"/>
                </a:solidFill>
                <a:latin typeface="Arial"/>
              </a:rPr>
              <a:t>• Complainant personal data</a:t>
            </a:r>
            <a:r>
              <a:rPr dirty="0"/>
              <a:t/>
            </a:r>
            <a:br>
              <a:rPr dirty="0"/>
            </a:br>
            <a:r>
              <a:rPr sz="1300" b="0" dirty="0">
                <a:solidFill>
                  <a:srgbClr val="141414"/>
                </a:solidFill>
                <a:latin typeface="Arial"/>
              </a:rPr>
              <a:t>• CNIC and contact information</a:t>
            </a:r>
            <a:r>
              <a:rPr dirty="0"/>
              <a:t/>
            </a:r>
            <a:br>
              <a:rPr dirty="0"/>
            </a:br>
            <a:r>
              <a:rPr sz="1300" b="0" dirty="0">
                <a:solidFill>
                  <a:srgbClr val="141414"/>
                </a:solidFill>
                <a:latin typeface="Arial"/>
              </a:rPr>
              <a:t>• FIR narrative</a:t>
            </a:r>
            <a:r>
              <a:rPr dirty="0"/>
              <a:t/>
            </a:r>
            <a:br>
              <a:rPr dirty="0"/>
            </a:br>
            <a:r>
              <a:rPr sz="1300" b="0" dirty="0">
                <a:solidFill>
                  <a:srgbClr val="141414"/>
                </a:solidFill>
                <a:latin typeface="Arial"/>
              </a:rPr>
              <a:t>• Suspect and witness information</a:t>
            </a:r>
            <a:r>
              <a:rPr dirty="0"/>
              <a:t/>
            </a:r>
            <a:br>
              <a:rPr dirty="0"/>
            </a:br>
            <a:r>
              <a:rPr sz="1300" b="0" dirty="0">
                <a:solidFill>
                  <a:srgbClr val="141414"/>
                </a:solidFill>
                <a:latin typeface="Arial"/>
              </a:rPr>
              <a:t>• Investigation notes</a:t>
            </a:r>
            <a:r>
              <a:rPr dirty="0"/>
              <a:t/>
            </a:r>
            <a:br>
              <a:rPr dirty="0"/>
            </a:br>
            <a:r>
              <a:rPr sz="1300" b="0" dirty="0">
                <a:solidFill>
                  <a:srgbClr val="141414"/>
                </a:solidFill>
                <a:latin typeface="Arial"/>
              </a:rPr>
              <a:t>• Documents, </a:t>
            </a:r>
            <a:r>
              <a:rPr sz="1300" b="0" dirty="0" smtClean="0">
                <a:solidFill>
                  <a:srgbClr val="141414"/>
                </a:solidFill>
                <a:latin typeface="Arial"/>
              </a:rPr>
              <a:t>images</a:t>
            </a:r>
            <a:r>
              <a:rPr lang="en-US" sz="1300" b="0" dirty="0" smtClean="0">
                <a:solidFill>
                  <a:srgbClr val="141414"/>
                </a:solidFill>
                <a:latin typeface="Arial"/>
              </a:rPr>
              <a:t> and</a:t>
            </a:r>
            <a:r>
              <a:rPr sz="1300" b="0" dirty="0" smtClean="0">
                <a:solidFill>
                  <a:srgbClr val="141414"/>
                </a:solidFill>
                <a:latin typeface="Arial"/>
              </a:rPr>
              <a:t> </a:t>
            </a:r>
            <a:r>
              <a:rPr sz="1300" b="0" dirty="0">
                <a:solidFill>
                  <a:srgbClr val="141414"/>
                </a:solidFill>
                <a:latin typeface="Arial"/>
              </a:rPr>
              <a:t>PDFs</a:t>
            </a:r>
            <a:r>
              <a:rPr dirty="0"/>
              <a:t/>
            </a:r>
            <a:br>
              <a:rPr dirty="0"/>
            </a:br>
            <a:r>
              <a:rPr dirty="0"/>
              <a:t/>
            </a:r>
            <a:br>
              <a:rPr dirty="0"/>
            </a:br>
            <a:r>
              <a:rPr sz="1300" b="0" dirty="0">
                <a:solidFill>
                  <a:srgbClr val="141414"/>
                </a:solidFill>
                <a:latin typeface="Arial"/>
              </a:rPr>
              <a:t>Storage: PostgreSQL + protected file storage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133087" y="2423160"/>
            <a:ext cx="914400" cy="45720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ctr"/>
            <a:r>
              <a:rPr sz="1600" b="1">
                <a:solidFill>
                  <a:srgbClr val="DAA520"/>
                </a:solidFill>
                <a:latin typeface="Arial"/>
              </a:rPr>
              <a:t>SHA 256</a:t>
            </a:r>
          </a:p>
        </p:txBody>
      </p:sp>
      <p:sp>
        <p:nvSpPr>
          <p:cNvPr id="164" name="Chevron 163"/>
          <p:cNvSpPr/>
          <p:nvPr/>
        </p:nvSpPr>
        <p:spPr>
          <a:xfrm>
            <a:off x="4187952" y="2971800"/>
            <a:ext cx="822960" cy="640080"/>
          </a:xfrm>
          <a:prstGeom prst="chevron">
            <a:avLst/>
          </a:prstGeom>
          <a:solidFill>
            <a:srgbClr val="DAA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5" name="Rounded Rectangle 164"/>
          <p:cNvSpPr/>
          <p:nvPr/>
        </p:nvSpPr>
        <p:spPr>
          <a:xfrm>
            <a:off x="5074920" y="1325880"/>
            <a:ext cx="3566160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6" name="Rectangle 165"/>
          <p:cNvSpPr/>
          <p:nvPr/>
        </p:nvSpPr>
        <p:spPr>
          <a:xfrm>
            <a:off x="5074920" y="1325880"/>
            <a:ext cx="64008" cy="4343400"/>
          </a:xfrm>
          <a:prstGeom prst="rect">
            <a:avLst/>
          </a:prstGeom>
          <a:solidFill>
            <a:srgbClr val="DAA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7" name="TextBox 166"/>
          <p:cNvSpPr txBox="1"/>
          <p:nvPr/>
        </p:nvSpPr>
        <p:spPr>
          <a:xfrm>
            <a:off x="5230368" y="1435607"/>
            <a:ext cx="3337560" cy="34747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700" b="1">
                <a:solidFill>
                  <a:srgbClr val="DAA520"/>
                </a:solidFill>
                <a:latin typeface="Arial"/>
              </a:rPr>
              <a:t>ON CHAIN | Integrity Metadata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5230368" y="1828800"/>
            <a:ext cx="3337560" cy="3749039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300" b="0">
                <a:solidFill>
                  <a:srgbClr val="141414"/>
                </a:solidFill>
                <a:latin typeface="Arial"/>
              </a:rPr>
              <a:t>• FIR identifier</a:t>
            </a:r>
            <a:r>
              <a:t/>
            </a:r>
            <a:br/>
            <a:r>
              <a:rPr sz="1300" b="0">
                <a:solidFill>
                  <a:srgbClr val="141414"/>
                </a:solidFill>
                <a:latin typeface="Arial"/>
              </a:rPr>
              <a:t>• Transaction identifier</a:t>
            </a:r>
            <a:r>
              <a:t/>
            </a:r>
            <a:br/>
            <a:r>
              <a:rPr sz="1300" b="0">
                <a:solidFill>
                  <a:srgbClr val="141414"/>
                </a:solidFill>
                <a:latin typeface="Arial"/>
              </a:rPr>
              <a:t>• Record and document hashes</a:t>
            </a:r>
            <a:r>
              <a:t/>
            </a:r>
            <a:br/>
            <a:r>
              <a:rPr sz="1300" b="0">
                <a:solidFill>
                  <a:srgbClr val="141414"/>
                </a:solidFill>
                <a:latin typeface="Arial"/>
              </a:rPr>
              <a:t>• Operation type and status</a:t>
            </a:r>
            <a:r>
              <a:t/>
            </a:r>
            <a:br/>
            <a:r>
              <a:rPr sz="1300" b="0">
                <a:solidFill>
                  <a:srgbClr val="141414"/>
                </a:solidFill>
                <a:latin typeface="Arial"/>
              </a:rPr>
              <a:t>• Officer / organization identifier</a:t>
            </a:r>
            <a:r>
              <a:t/>
            </a:r>
            <a:br/>
            <a:r>
              <a:rPr sz="1300" b="0">
                <a:solidFill>
                  <a:srgbClr val="141414"/>
                </a:solidFill>
                <a:latin typeface="Arial"/>
              </a:rPr>
              <a:t>• Timestamp and workflow state</a:t>
            </a:r>
            <a:r>
              <a:t/>
            </a:r>
            <a:br/>
            <a:r>
              <a:rPr sz="1300" b="0">
                <a:solidFill>
                  <a:srgbClr val="141414"/>
                </a:solidFill>
                <a:latin typeface="Arial"/>
              </a:rPr>
              <a:t>• Approval and audit events</a:t>
            </a:r>
            <a:r>
              <a:t/>
            </a:r>
            <a:br/>
            <a:r>
              <a:t/>
            </a:r>
            <a:br/>
            <a:r>
              <a:rPr sz="1300" b="0">
                <a:solidFill>
                  <a:srgbClr val="141414"/>
                </a:solidFill>
                <a:latin typeface="Arial"/>
              </a:rPr>
              <a:t>Platform: Hyperledger Fabric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212436" y="5715000"/>
            <a:ext cx="8017163" cy="270843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ctr"/>
            <a:r>
              <a:rPr sz="1400" b="1" dirty="0">
                <a:solidFill>
                  <a:srgbClr val="1F497D"/>
                </a:solidFill>
                <a:latin typeface="Arial"/>
              </a:rPr>
              <a:t>Sensitive information never needs to be stored on the blockchain.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wind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2"/>
          <p:cNvSpPr txBox="1">
            <a:spLocks noGrp="1"/>
          </p:cNvSpPr>
          <p:nvPr>
            <p:ph type="title"/>
          </p:nvPr>
        </p:nvSpPr>
        <p:spPr>
          <a:xfrm>
            <a:off x="722313" y="304799"/>
            <a:ext cx="7772400" cy="7005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0" tIns="18288" rIns="45720" bIns="18288" anchor="t" anchorCtr="0">
            <a:normAutofit/>
          </a:bodyPr>
          <a:lstStyle/>
          <a:p>
            <a:r>
              <a:rPr lang="en-US" sz="2600" dirty="0">
                <a:solidFill>
                  <a:srgbClr val="1F497D"/>
                </a:solidFill>
                <a:latin typeface="Arial"/>
              </a:rPr>
              <a:t>System Architecture and Technology Stack</a:t>
            </a:r>
            <a:endParaRPr sz="2600" b="1" dirty="0">
              <a:solidFill>
                <a:srgbClr val="1F497D"/>
              </a:solidFill>
              <a:latin typeface="Arial"/>
            </a:endParaRPr>
          </a:p>
        </p:txBody>
      </p:sp>
      <p:sp>
        <p:nvSpPr>
          <p:cNvPr id="165" name="Rounded Rectangle 164"/>
          <p:cNvSpPr/>
          <p:nvPr/>
        </p:nvSpPr>
        <p:spPr>
          <a:xfrm>
            <a:off x="731520" y="1234440"/>
            <a:ext cx="71323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6" name="Rectangle 165"/>
          <p:cNvSpPr/>
          <p:nvPr/>
        </p:nvSpPr>
        <p:spPr>
          <a:xfrm>
            <a:off x="731520" y="1234440"/>
            <a:ext cx="64008" cy="74980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7" name="TextBox 166"/>
          <p:cNvSpPr txBox="1"/>
          <p:nvPr/>
        </p:nvSpPr>
        <p:spPr>
          <a:xfrm>
            <a:off x="886968" y="1344168"/>
            <a:ext cx="6903720" cy="34747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400" b="1">
                <a:solidFill>
                  <a:srgbClr val="1F497D"/>
                </a:solidFill>
                <a:latin typeface="Arial"/>
              </a:rPr>
              <a:t>Presentation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86968" y="1737360"/>
            <a:ext cx="6903720" cy="155447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150" b="0">
                <a:solidFill>
                  <a:srgbClr val="141414"/>
                </a:solidFill>
                <a:latin typeface="Arial"/>
              </a:rPr>
              <a:t>React, TypeScript, Tailwind CSS, Axios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731520" y="2084832"/>
            <a:ext cx="71323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0" name="Rectangle 169"/>
          <p:cNvSpPr/>
          <p:nvPr/>
        </p:nvSpPr>
        <p:spPr>
          <a:xfrm>
            <a:off x="731520" y="2084832"/>
            <a:ext cx="64008" cy="749808"/>
          </a:xfrm>
          <a:prstGeom prst="rect">
            <a:avLst/>
          </a:prstGeom>
          <a:solidFill>
            <a:srgbClr val="DAA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1" name="TextBox 170"/>
          <p:cNvSpPr txBox="1"/>
          <p:nvPr/>
        </p:nvSpPr>
        <p:spPr>
          <a:xfrm>
            <a:off x="886968" y="2194560"/>
            <a:ext cx="6903720" cy="34747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400" b="1">
                <a:solidFill>
                  <a:srgbClr val="DAA520"/>
                </a:solidFill>
                <a:latin typeface="Arial"/>
              </a:rPr>
              <a:t>Application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86968" y="2587752"/>
            <a:ext cx="6903720" cy="155447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150" b="0">
                <a:solidFill>
                  <a:srgbClr val="141414"/>
                </a:solidFill>
                <a:latin typeface="Arial"/>
              </a:rPr>
              <a:t>Python, FastAPI, validation, notifications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731520" y="2935224"/>
            <a:ext cx="71323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4" name="Rectangle 173"/>
          <p:cNvSpPr/>
          <p:nvPr/>
        </p:nvSpPr>
        <p:spPr>
          <a:xfrm>
            <a:off x="731520" y="2935224"/>
            <a:ext cx="64008" cy="74980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5" name="TextBox 174"/>
          <p:cNvSpPr txBox="1"/>
          <p:nvPr/>
        </p:nvSpPr>
        <p:spPr>
          <a:xfrm>
            <a:off x="886968" y="3044952"/>
            <a:ext cx="6903720" cy="34747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400" b="1">
                <a:solidFill>
                  <a:srgbClr val="1F497D"/>
                </a:solidFill>
                <a:latin typeface="Arial"/>
              </a:rPr>
              <a:t>Data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86968" y="3438144"/>
            <a:ext cx="6903720" cy="155447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150" b="0">
                <a:solidFill>
                  <a:srgbClr val="141414"/>
                </a:solidFill>
                <a:latin typeface="Arial"/>
              </a:rPr>
              <a:t>PostgreSQL + protected file storage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731520" y="3785616"/>
            <a:ext cx="71323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8" name="Rectangle 177"/>
          <p:cNvSpPr/>
          <p:nvPr/>
        </p:nvSpPr>
        <p:spPr>
          <a:xfrm>
            <a:off x="731520" y="3785616"/>
            <a:ext cx="64008" cy="749808"/>
          </a:xfrm>
          <a:prstGeom prst="rect">
            <a:avLst/>
          </a:prstGeom>
          <a:solidFill>
            <a:srgbClr val="DAA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9" name="TextBox 178"/>
          <p:cNvSpPr txBox="1"/>
          <p:nvPr/>
        </p:nvSpPr>
        <p:spPr>
          <a:xfrm>
            <a:off x="886968" y="3895344"/>
            <a:ext cx="6903720" cy="34747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400" b="1">
                <a:solidFill>
                  <a:srgbClr val="DAA520"/>
                </a:solidFill>
                <a:latin typeface="Arial"/>
              </a:rPr>
              <a:t>Blockchain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86968" y="4288536"/>
            <a:ext cx="6903720" cy="155447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150" b="0">
                <a:solidFill>
                  <a:srgbClr val="141414"/>
                </a:solidFill>
                <a:latin typeface="Arial"/>
              </a:rPr>
              <a:t>Hyperledger Fabric, peers, CA, MSP, channels, chaincode</a:t>
            </a:r>
          </a:p>
        </p:txBody>
      </p:sp>
      <p:sp>
        <p:nvSpPr>
          <p:cNvPr id="181" name="Rounded Rectangle 180"/>
          <p:cNvSpPr/>
          <p:nvPr/>
        </p:nvSpPr>
        <p:spPr>
          <a:xfrm>
            <a:off x="731520" y="4636008"/>
            <a:ext cx="71323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2" name="Rectangle 181"/>
          <p:cNvSpPr/>
          <p:nvPr/>
        </p:nvSpPr>
        <p:spPr>
          <a:xfrm>
            <a:off x="731520" y="4636008"/>
            <a:ext cx="64008" cy="74980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3" name="TextBox 182"/>
          <p:cNvSpPr txBox="1"/>
          <p:nvPr/>
        </p:nvSpPr>
        <p:spPr>
          <a:xfrm>
            <a:off x="886968" y="4745736"/>
            <a:ext cx="6903720" cy="34747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400" b="1">
                <a:solidFill>
                  <a:srgbClr val="1F497D"/>
                </a:solidFill>
                <a:latin typeface="Arial"/>
              </a:rPr>
              <a:t>Security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86968" y="5138928"/>
            <a:ext cx="6903720" cy="155447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150" b="0">
                <a:solidFill>
                  <a:srgbClr val="141414"/>
                </a:solidFill>
                <a:latin typeface="Arial"/>
              </a:rPr>
              <a:t>Authentication, RBAC, TLS, hashing, access logs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777240" y="5577840"/>
            <a:ext cx="7132320" cy="384048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ctr"/>
            <a:r>
              <a:rPr sz="1400" b="1">
                <a:solidFill>
                  <a:srgbClr val="1F497D"/>
                </a:solidFill>
                <a:latin typeface="Arial"/>
              </a:rPr>
              <a:t>Methodology: Agile and Scrum inspired, 12 iterative sprints.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fallOver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3"/>
          <p:cNvSpPr txBox="1">
            <a:spLocks noGrp="1"/>
          </p:cNvSpPr>
          <p:nvPr>
            <p:ph type="title"/>
          </p:nvPr>
        </p:nvSpPr>
        <p:spPr>
          <a:xfrm>
            <a:off x="1016000" y="4310929"/>
            <a:ext cx="3592945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0" tIns="18288" rIns="45720" bIns="18288" anchor="ctr" anchorCtr="0">
            <a:noAutofit/>
          </a:bodyPr>
          <a:lstStyle/>
          <a:p>
            <a:r>
              <a:rPr sz="2600" b="1">
                <a:solidFill>
                  <a:srgbClr val="1F497D"/>
                </a:solidFill>
                <a:latin typeface="Arial"/>
              </a:rPr>
              <a:t>PROJECT SCOPE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26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0" tIns="18288" rIns="45720" bIns="18288" anchor="t" anchorCtr="0">
            <a:normAutofit/>
          </a:bodyPr>
          <a:lstStyle/>
          <a:p>
            <a:r>
              <a:rPr sz="2600" b="1">
                <a:solidFill>
                  <a:srgbClr val="1F497D"/>
                </a:solidFill>
                <a:latin typeface="Arial"/>
              </a:rPr>
              <a:t>Project Scope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502920" y="1325880"/>
            <a:ext cx="3749039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8" name="Rectangle 177"/>
          <p:cNvSpPr/>
          <p:nvPr/>
        </p:nvSpPr>
        <p:spPr>
          <a:xfrm>
            <a:off x="502920" y="1325880"/>
            <a:ext cx="64008" cy="448056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9" name="TextBox 178"/>
          <p:cNvSpPr txBox="1"/>
          <p:nvPr/>
        </p:nvSpPr>
        <p:spPr>
          <a:xfrm>
            <a:off x="914401" y="1403604"/>
            <a:ext cx="3520439" cy="34747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700" b="1" dirty="0">
                <a:solidFill>
                  <a:srgbClr val="1F497D"/>
                </a:solidFill>
                <a:latin typeface="Arial"/>
              </a:rPr>
              <a:t>IN SCOPE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658368" y="1828800"/>
            <a:ext cx="3520439" cy="388620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300" b="0">
                <a:solidFill>
                  <a:srgbClr val="141414"/>
                </a:solidFill>
                <a:latin typeface="Arial"/>
              </a:rPr>
              <a:t>• Authentication and identity</a:t>
            </a:r>
            <a:r>
              <a:t/>
            </a:r>
            <a:br/>
            <a:r>
              <a:rPr sz="1300" b="0">
                <a:solidFill>
                  <a:srgbClr val="141414"/>
                </a:solidFill>
                <a:latin typeface="Arial"/>
              </a:rPr>
              <a:t>• Citizen complaint portal</a:t>
            </a:r>
            <a:r>
              <a:t/>
            </a:r>
            <a:br/>
            <a:r>
              <a:rPr sz="1300" b="0">
                <a:solidFill>
                  <a:srgbClr val="141414"/>
                </a:solidFill>
                <a:latin typeface="Arial"/>
              </a:rPr>
              <a:t>• FIR creation, approval, tracking</a:t>
            </a:r>
            <a:r>
              <a:t/>
            </a:r>
            <a:br/>
            <a:r>
              <a:rPr sz="1300" b="0">
                <a:solidFill>
                  <a:srgbClr val="141414"/>
                </a:solidFill>
                <a:latin typeface="Arial"/>
              </a:rPr>
              <a:t>• Police station management</a:t>
            </a:r>
            <a:r>
              <a:t/>
            </a:r>
            <a:br/>
            <a:r>
              <a:rPr sz="1300" b="0">
                <a:solidFill>
                  <a:srgbClr val="141414"/>
                </a:solidFill>
                <a:latin typeface="Arial"/>
              </a:rPr>
              <a:t>• Investigation and officer assignment</a:t>
            </a:r>
            <a:r>
              <a:t/>
            </a:r>
            <a:br/>
            <a:r>
              <a:rPr sz="1300" b="0">
                <a:solidFill>
                  <a:srgbClr val="141414"/>
                </a:solidFill>
                <a:latin typeface="Arial"/>
              </a:rPr>
              <a:t>• Evidence and SHA 256 hashing</a:t>
            </a:r>
            <a:r>
              <a:t/>
            </a:r>
            <a:br/>
            <a:r>
              <a:rPr sz="1300" b="0">
                <a:solidFill>
                  <a:srgbClr val="141414"/>
                </a:solidFill>
                <a:latin typeface="Arial"/>
              </a:rPr>
              <a:t>• Hyperledger Fabric transactions</a:t>
            </a:r>
            <a:r>
              <a:t/>
            </a:r>
            <a:br/>
            <a:r>
              <a:rPr sz="1300" b="0">
                <a:solidFill>
                  <a:srgbClr val="141414"/>
                </a:solidFill>
                <a:latin typeface="Arial"/>
              </a:rPr>
              <a:t>• Audit trail and history</a:t>
            </a:r>
            <a:r>
              <a:t/>
            </a:r>
            <a:br/>
            <a:r>
              <a:rPr sz="1300" b="0">
                <a:solidFill>
                  <a:srgbClr val="141414"/>
                </a:solidFill>
                <a:latin typeface="Arial"/>
              </a:rPr>
              <a:t>• Notifications, analytics, administration</a:t>
            </a:r>
          </a:p>
        </p:txBody>
      </p:sp>
      <p:sp>
        <p:nvSpPr>
          <p:cNvPr id="181" name="Rounded Rectangle 180"/>
          <p:cNvSpPr/>
          <p:nvPr/>
        </p:nvSpPr>
        <p:spPr>
          <a:xfrm>
            <a:off x="4526280" y="1325880"/>
            <a:ext cx="3749039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2" name="Rectangle 181"/>
          <p:cNvSpPr/>
          <p:nvPr/>
        </p:nvSpPr>
        <p:spPr>
          <a:xfrm>
            <a:off x="4526280" y="1325880"/>
            <a:ext cx="64008" cy="4480560"/>
          </a:xfrm>
          <a:prstGeom prst="rect">
            <a:avLst/>
          </a:prstGeom>
          <a:solidFill>
            <a:srgbClr val="DAA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3" name="TextBox 182"/>
          <p:cNvSpPr txBox="1"/>
          <p:nvPr/>
        </p:nvSpPr>
        <p:spPr>
          <a:xfrm>
            <a:off x="4974274" y="1403604"/>
            <a:ext cx="3520439" cy="34747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700" b="1" dirty="0">
                <a:solidFill>
                  <a:srgbClr val="DAA520"/>
                </a:solidFill>
                <a:latin typeface="Arial"/>
              </a:rPr>
              <a:t>OUT OF SCOPE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4681728" y="1828800"/>
            <a:ext cx="3520439" cy="388620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300" b="0">
                <a:solidFill>
                  <a:srgbClr val="141414"/>
                </a:solidFill>
                <a:latin typeface="Arial"/>
              </a:rPr>
              <a:t>• Live Pakistan Police integration</a:t>
            </a:r>
            <a:r>
              <a:t/>
            </a:r>
            <a:br/>
            <a:r>
              <a:rPr sz="1300" b="0">
                <a:solidFill>
                  <a:srgbClr val="141414"/>
                </a:solidFill>
                <a:latin typeface="Arial"/>
              </a:rPr>
              <a:t>• Real NADRA verification</a:t>
            </a:r>
            <a:r>
              <a:t/>
            </a:r>
            <a:br/>
            <a:r>
              <a:rPr sz="1300" b="0">
                <a:solidFill>
                  <a:srgbClr val="141414"/>
                </a:solidFill>
                <a:latin typeface="Arial"/>
              </a:rPr>
              <a:t>• Real criminal history data</a:t>
            </a:r>
            <a:r>
              <a:t/>
            </a:r>
            <a:br/>
            <a:r>
              <a:rPr sz="1300" b="0">
                <a:solidFill>
                  <a:srgbClr val="141414"/>
                </a:solidFill>
                <a:latin typeface="Arial"/>
              </a:rPr>
              <a:t>• AI based profiling or prediction</a:t>
            </a:r>
            <a:r>
              <a:t/>
            </a:r>
            <a:br/>
            <a:r>
              <a:rPr sz="1300" b="0">
                <a:solidFill>
                  <a:srgbClr val="141414"/>
                </a:solidFill>
                <a:latin typeface="Arial"/>
              </a:rPr>
              <a:t>• Production deployment</a:t>
            </a:r>
            <a:r>
              <a:t/>
            </a:r>
            <a:br/>
            <a:r>
              <a:rPr sz="1300" b="0">
                <a:solidFill>
                  <a:srgbClr val="141414"/>
                </a:solidFill>
                <a:latin typeface="Arial"/>
              </a:rPr>
              <a:t>• Legal authorization of real FIRs</a:t>
            </a:r>
            <a:r>
              <a:t/>
            </a:r>
            <a:br/>
            <a:r>
              <a:t/>
            </a:r>
            <a:br/>
            <a:r>
              <a:rPr sz="1300" b="0">
                <a:solidFill>
                  <a:srgbClr val="141414"/>
                </a:solidFill>
                <a:latin typeface="Arial"/>
              </a:rPr>
              <a:t>All testing uses synthetic or demonstration data.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00">
        <p:dissolve/>
      </p:transition>
    </mc:Choice>
    <mc:Fallback>
      <p:transition spd="slow">
        <p:dissolve/>
      </p:transition>
    </mc:Fallback>
  </mc:AlternateContent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2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0" tIns="18288" rIns="45720" bIns="18288" anchor="ctr" anchorCtr="0">
            <a:noAutofit/>
          </a:bodyPr>
          <a:lstStyle/>
          <a:p>
            <a:r>
              <a:rPr sz="2600" b="1">
                <a:solidFill>
                  <a:srgbClr val="1F497D"/>
                </a:solidFill>
                <a:latin typeface="Arial"/>
              </a:rPr>
              <a:t>Work Breakdown Structure</a:t>
            </a:r>
          </a:p>
        </p:txBody>
      </p:sp>
      <p:sp>
        <p:nvSpPr>
          <p:cNvPr id="183" name="Rounded Rectangle 182"/>
          <p:cNvSpPr/>
          <p:nvPr/>
        </p:nvSpPr>
        <p:spPr>
          <a:xfrm>
            <a:off x="502920" y="1234440"/>
            <a:ext cx="25146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4" name="Rectangle 183"/>
          <p:cNvSpPr/>
          <p:nvPr/>
        </p:nvSpPr>
        <p:spPr>
          <a:xfrm>
            <a:off x="502920" y="1234440"/>
            <a:ext cx="64008" cy="18288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5" name="TextBox 184"/>
          <p:cNvSpPr txBox="1"/>
          <p:nvPr/>
        </p:nvSpPr>
        <p:spPr>
          <a:xfrm>
            <a:off x="658368" y="1344168"/>
            <a:ext cx="2286000" cy="34747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400" b="1">
                <a:solidFill>
                  <a:srgbClr val="1F497D"/>
                </a:solidFill>
                <a:latin typeface="Arial"/>
              </a:rPr>
              <a:t>1. Research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658368" y="1737360"/>
            <a:ext cx="2286000" cy="123444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150" b="0">
                <a:solidFill>
                  <a:srgbClr val="141414"/>
                </a:solidFill>
                <a:latin typeface="Arial"/>
              </a:rPr>
              <a:t>Requirements, background, gap analysis, planning</a:t>
            </a:r>
          </a:p>
        </p:txBody>
      </p:sp>
      <p:sp>
        <p:nvSpPr>
          <p:cNvPr id="187" name="Rounded Rectangle 186"/>
          <p:cNvSpPr/>
          <p:nvPr/>
        </p:nvSpPr>
        <p:spPr>
          <a:xfrm>
            <a:off x="3154680" y="1234440"/>
            <a:ext cx="25146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8" name="Rectangle 187"/>
          <p:cNvSpPr/>
          <p:nvPr/>
        </p:nvSpPr>
        <p:spPr>
          <a:xfrm>
            <a:off x="3154680" y="1234440"/>
            <a:ext cx="64008" cy="1828800"/>
          </a:xfrm>
          <a:prstGeom prst="rect">
            <a:avLst/>
          </a:prstGeom>
          <a:solidFill>
            <a:srgbClr val="DAA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9" name="TextBox 188"/>
          <p:cNvSpPr txBox="1"/>
          <p:nvPr/>
        </p:nvSpPr>
        <p:spPr>
          <a:xfrm>
            <a:off x="3310128" y="1344168"/>
            <a:ext cx="2286000" cy="34747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400" b="1">
                <a:solidFill>
                  <a:srgbClr val="DAA520"/>
                </a:solidFill>
                <a:latin typeface="Arial"/>
              </a:rPr>
              <a:t>2. Design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3310128" y="1737360"/>
            <a:ext cx="2286000" cy="123444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150" b="0">
                <a:solidFill>
                  <a:srgbClr val="141414"/>
                </a:solidFill>
                <a:latin typeface="Arial"/>
              </a:rPr>
              <a:t>Architecture, database model, workflow, security design</a:t>
            </a:r>
          </a:p>
        </p:txBody>
      </p:sp>
      <p:sp>
        <p:nvSpPr>
          <p:cNvPr id="191" name="Rounded Rectangle 190"/>
          <p:cNvSpPr/>
          <p:nvPr/>
        </p:nvSpPr>
        <p:spPr>
          <a:xfrm>
            <a:off x="5806440" y="1234440"/>
            <a:ext cx="25146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2" name="Rectangle 191"/>
          <p:cNvSpPr/>
          <p:nvPr/>
        </p:nvSpPr>
        <p:spPr>
          <a:xfrm>
            <a:off x="5806440" y="1234440"/>
            <a:ext cx="64008" cy="18288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3" name="TextBox 192"/>
          <p:cNvSpPr txBox="1"/>
          <p:nvPr/>
        </p:nvSpPr>
        <p:spPr>
          <a:xfrm>
            <a:off x="5961888" y="1344168"/>
            <a:ext cx="2286000" cy="34747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400" b="1">
                <a:solidFill>
                  <a:srgbClr val="1F497D"/>
                </a:solidFill>
                <a:latin typeface="Arial"/>
              </a:rPr>
              <a:t>3. Core Development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5961888" y="1737360"/>
            <a:ext cx="2286000" cy="123444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150" b="0">
                <a:solidFill>
                  <a:srgbClr val="141414"/>
                </a:solidFill>
                <a:latin typeface="Arial"/>
              </a:rPr>
              <a:t>Frontend, FastAPI backend, authentication, FIR modules</a:t>
            </a:r>
          </a:p>
        </p:txBody>
      </p:sp>
      <p:sp>
        <p:nvSpPr>
          <p:cNvPr id="195" name="Rounded Rectangle 194"/>
          <p:cNvSpPr/>
          <p:nvPr/>
        </p:nvSpPr>
        <p:spPr>
          <a:xfrm>
            <a:off x="502920" y="3337560"/>
            <a:ext cx="25146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6" name="Rectangle 195"/>
          <p:cNvSpPr/>
          <p:nvPr/>
        </p:nvSpPr>
        <p:spPr>
          <a:xfrm>
            <a:off x="502920" y="3337560"/>
            <a:ext cx="64008" cy="1828800"/>
          </a:xfrm>
          <a:prstGeom prst="rect">
            <a:avLst/>
          </a:prstGeom>
          <a:solidFill>
            <a:srgbClr val="DAA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7" name="TextBox 196"/>
          <p:cNvSpPr txBox="1"/>
          <p:nvPr/>
        </p:nvSpPr>
        <p:spPr>
          <a:xfrm>
            <a:off x="658368" y="3447288"/>
            <a:ext cx="2286000" cy="34747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400" b="1">
                <a:solidFill>
                  <a:srgbClr val="DAA520"/>
                </a:solidFill>
                <a:latin typeface="Arial"/>
              </a:rPr>
              <a:t>4. Blockchain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658368" y="3840480"/>
            <a:ext cx="2286000" cy="123444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150" b="0">
                <a:solidFill>
                  <a:srgbClr val="141414"/>
                </a:solidFill>
                <a:latin typeface="Arial"/>
              </a:rPr>
              <a:t>Fabric network, chaincode, transactions, integration</a:t>
            </a:r>
          </a:p>
        </p:txBody>
      </p:sp>
      <p:sp>
        <p:nvSpPr>
          <p:cNvPr id="199" name="Rounded Rectangle 198"/>
          <p:cNvSpPr/>
          <p:nvPr/>
        </p:nvSpPr>
        <p:spPr>
          <a:xfrm>
            <a:off x="3154680" y="3337560"/>
            <a:ext cx="25146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0" name="Rectangle 199"/>
          <p:cNvSpPr/>
          <p:nvPr/>
        </p:nvSpPr>
        <p:spPr>
          <a:xfrm>
            <a:off x="3154680" y="3337560"/>
            <a:ext cx="64008" cy="18288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1" name="TextBox 200"/>
          <p:cNvSpPr txBox="1"/>
          <p:nvPr/>
        </p:nvSpPr>
        <p:spPr>
          <a:xfrm>
            <a:off x="3310128" y="3447288"/>
            <a:ext cx="2286000" cy="34747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400" b="1">
                <a:solidFill>
                  <a:srgbClr val="1F497D"/>
                </a:solidFill>
                <a:latin typeface="Arial"/>
              </a:rPr>
              <a:t>5. Evidence + Testing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3310128" y="3840480"/>
            <a:ext cx="2286000" cy="123444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150" b="0">
                <a:solidFill>
                  <a:srgbClr val="141414"/>
                </a:solidFill>
                <a:latin typeface="Arial"/>
              </a:rPr>
              <a:t>SHA 256, integrity checks, security testing, UI testing</a:t>
            </a:r>
          </a:p>
        </p:txBody>
      </p:sp>
      <p:sp>
        <p:nvSpPr>
          <p:cNvPr id="203" name="Rounded Rectangle 202"/>
          <p:cNvSpPr/>
          <p:nvPr/>
        </p:nvSpPr>
        <p:spPr>
          <a:xfrm>
            <a:off x="5806440" y="3337560"/>
            <a:ext cx="25146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4" name="Rectangle 203"/>
          <p:cNvSpPr/>
          <p:nvPr/>
        </p:nvSpPr>
        <p:spPr>
          <a:xfrm>
            <a:off x="5806440" y="3337560"/>
            <a:ext cx="64008" cy="1828800"/>
          </a:xfrm>
          <a:prstGeom prst="rect">
            <a:avLst/>
          </a:prstGeom>
          <a:solidFill>
            <a:srgbClr val="DAA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5" name="TextBox 204"/>
          <p:cNvSpPr txBox="1"/>
          <p:nvPr/>
        </p:nvSpPr>
        <p:spPr>
          <a:xfrm>
            <a:off x="5961888" y="3447288"/>
            <a:ext cx="2286000" cy="34747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400" b="1">
                <a:solidFill>
                  <a:srgbClr val="DAA520"/>
                </a:solidFill>
                <a:latin typeface="Arial"/>
              </a:rPr>
              <a:t>6. Delivery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5961888" y="3840480"/>
            <a:ext cx="2286000" cy="123444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150" b="0">
                <a:solidFill>
                  <a:srgbClr val="141414"/>
                </a:solidFill>
                <a:latin typeface="Arial"/>
              </a:rPr>
              <a:t>Deployment packaging, documentation, presentation, viva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640080" y="5532120"/>
            <a:ext cx="7589520" cy="36576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ctr"/>
            <a:r>
              <a:rPr sz="1400" b="1">
                <a:solidFill>
                  <a:srgbClr val="1F497D"/>
                </a:solidFill>
                <a:latin typeface="Arial"/>
              </a:rPr>
              <a:t>Work packages follow the proposal’s 12 sprint development plan.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500">
        <p:checker/>
      </p:transition>
    </mc:Choice>
    <mc:Fallback>
      <p:transition spd="slow">
        <p:checker/>
      </p:transition>
    </mc:Fallback>
  </mc:AlternateContent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45720" tIns="18288" rIns="45720" bIns="18288"/>
          <a:lstStyle/>
          <a:p>
            <a:r>
              <a:rPr sz="2600" b="1">
                <a:solidFill>
                  <a:srgbClr val="1F497D"/>
                </a:solidFill>
                <a:latin typeface="Arial"/>
              </a:rPr>
              <a:t>Roles and Responsibilities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34440"/>
            <a:ext cx="2514600" cy="3520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1234440"/>
            <a:ext cx="64008" cy="35204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344168"/>
            <a:ext cx="2286000" cy="34747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500" b="1">
                <a:solidFill>
                  <a:srgbClr val="1F497D"/>
                </a:solidFill>
                <a:latin typeface="Arial"/>
              </a:rPr>
              <a:t>Sharaiz Ahmed | 57288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37360"/>
            <a:ext cx="2286000" cy="292608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150" b="0">
                <a:solidFill>
                  <a:srgbClr val="141414"/>
                </a:solidFill>
                <a:latin typeface="Arial"/>
              </a:rPr>
              <a:t>System Architecture and Blockchain Lead</a:t>
            </a:r>
            <a:r>
              <a:t/>
            </a:r>
            <a:br/>
            <a:r>
              <a:t/>
            </a:r>
            <a:br/>
            <a:r>
              <a:rPr sz="1150" b="0">
                <a:solidFill>
                  <a:srgbClr val="141414"/>
                </a:solidFill>
                <a:latin typeface="Arial"/>
              </a:rPr>
              <a:t>• Architecture and requirements coordination</a:t>
            </a:r>
            <a:r>
              <a:t/>
            </a:r>
            <a:br/>
            <a:r>
              <a:rPr sz="1150" b="0">
                <a:solidFill>
                  <a:srgbClr val="141414"/>
                </a:solidFill>
                <a:latin typeface="Arial"/>
              </a:rPr>
              <a:t>• Hyperledger Fabric and chaincode coordination</a:t>
            </a:r>
            <a:r>
              <a:t/>
            </a:r>
            <a:br/>
            <a:r>
              <a:rPr sz="1150" b="0">
                <a:solidFill>
                  <a:srgbClr val="141414"/>
                </a:solidFill>
                <a:latin typeface="Arial"/>
              </a:rPr>
              <a:t>• Hash and integrity architecture</a:t>
            </a:r>
            <a:r>
              <a:t/>
            </a:r>
            <a:br/>
            <a:r>
              <a:rPr sz="1150" b="0">
                <a:solidFill>
                  <a:srgbClr val="141414"/>
                </a:solidFill>
                <a:latin typeface="Arial"/>
              </a:rPr>
              <a:t>• Security architecture and integration</a:t>
            </a:r>
            <a:r>
              <a:t/>
            </a:r>
            <a:br/>
            <a:r>
              <a:rPr sz="1150" b="0">
                <a:solidFill>
                  <a:srgbClr val="141414"/>
                </a:solidFill>
                <a:latin typeface="Arial"/>
              </a:rPr>
              <a:t>• GitHub and deployment coordination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54680" y="1234440"/>
            <a:ext cx="2514600" cy="3520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154680" y="1234440"/>
            <a:ext cx="64008" cy="3520440"/>
          </a:xfrm>
          <a:prstGeom prst="rect">
            <a:avLst/>
          </a:prstGeom>
          <a:solidFill>
            <a:srgbClr val="DAA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310128" y="1344168"/>
            <a:ext cx="2286000" cy="34747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500" b="1">
                <a:solidFill>
                  <a:srgbClr val="DAA520"/>
                </a:solidFill>
                <a:latin typeface="Arial"/>
              </a:rPr>
              <a:t>Abdul Moiz | 54482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1737360"/>
            <a:ext cx="2286000" cy="292608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150" b="0">
                <a:solidFill>
                  <a:srgbClr val="141414"/>
                </a:solidFill>
                <a:latin typeface="Arial"/>
              </a:rPr>
              <a:t>Backend and Database Lead</a:t>
            </a:r>
            <a:r>
              <a:t/>
            </a:r>
            <a:br/>
            <a:r>
              <a:t/>
            </a:r>
            <a:br/>
            <a:r>
              <a:rPr sz="1150" b="0">
                <a:solidFill>
                  <a:srgbClr val="141414"/>
                </a:solidFill>
                <a:latin typeface="Arial"/>
              </a:rPr>
              <a:t>• Python and FastAPI</a:t>
            </a:r>
            <a:r>
              <a:t/>
            </a:r>
            <a:br/>
            <a:r>
              <a:rPr sz="1150" b="0">
                <a:solidFill>
                  <a:srgbClr val="141414"/>
                </a:solidFill>
                <a:latin typeface="Arial"/>
              </a:rPr>
              <a:t>• REST APIs and PostgreSQL</a:t>
            </a:r>
            <a:r>
              <a:t/>
            </a:r>
            <a:br/>
            <a:r>
              <a:rPr sz="1150" b="0">
                <a:solidFill>
                  <a:srgbClr val="141414"/>
                </a:solidFill>
                <a:latin typeface="Arial"/>
              </a:rPr>
              <a:t>• Authentication and RBAC</a:t>
            </a:r>
            <a:r>
              <a:t/>
            </a:r>
            <a:br/>
            <a:r>
              <a:rPr sz="1150" b="0">
                <a:solidFill>
                  <a:srgbClr val="141414"/>
                </a:solidFill>
                <a:latin typeface="Arial"/>
              </a:rPr>
              <a:t>• FIR, investigation, evidence APIs</a:t>
            </a:r>
            <a:r>
              <a:t/>
            </a:r>
            <a:br/>
            <a:r>
              <a:rPr sz="1150" b="0">
                <a:solidFill>
                  <a:srgbClr val="141414"/>
                </a:solidFill>
                <a:latin typeface="Arial"/>
              </a:rPr>
              <a:t>• Backend testing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06440" y="1234440"/>
            <a:ext cx="2514600" cy="3520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806440" y="1234440"/>
            <a:ext cx="64008" cy="35204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61888" y="1344168"/>
            <a:ext cx="2286000" cy="34747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500" b="1">
                <a:solidFill>
                  <a:srgbClr val="1F497D"/>
                </a:solidFill>
                <a:latin typeface="Arial"/>
              </a:rPr>
              <a:t>Basit Ali | 54596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61888" y="1737360"/>
            <a:ext cx="2286000" cy="292608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150" b="0">
                <a:solidFill>
                  <a:srgbClr val="141414"/>
                </a:solidFill>
                <a:latin typeface="Arial"/>
              </a:rPr>
              <a:t>Frontend and Testing Lead</a:t>
            </a:r>
            <a:r>
              <a:t/>
            </a:r>
            <a:br/>
            <a:r>
              <a:t/>
            </a:r>
            <a:br/>
            <a:r>
              <a:rPr sz="1150" b="0">
                <a:solidFill>
                  <a:srgbClr val="141414"/>
                </a:solidFill>
                <a:latin typeface="Arial"/>
              </a:rPr>
              <a:t>• React and TypeScript</a:t>
            </a:r>
            <a:r>
              <a:t/>
            </a:r>
            <a:br/>
            <a:r>
              <a:rPr sz="1150" b="0">
                <a:solidFill>
                  <a:srgbClr val="141414"/>
                </a:solidFill>
                <a:latin typeface="Arial"/>
              </a:rPr>
              <a:t>• UI and UX</a:t>
            </a:r>
            <a:r>
              <a:t/>
            </a:r>
            <a:br/>
            <a:r>
              <a:rPr sz="1150" b="0">
                <a:solidFill>
                  <a:srgbClr val="141414"/>
                </a:solidFill>
                <a:latin typeface="Arial"/>
              </a:rPr>
              <a:t>• Dashboards and forms</a:t>
            </a:r>
            <a:r>
              <a:t/>
            </a:r>
            <a:br/>
            <a:r>
              <a:rPr sz="1150" b="0">
                <a:solidFill>
                  <a:srgbClr val="141414"/>
                </a:solidFill>
                <a:latin typeface="Arial"/>
              </a:rPr>
              <a:t>• Audit and charts interface</a:t>
            </a:r>
            <a:r>
              <a:t/>
            </a:r>
            <a:br/>
            <a:r>
              <a:rPr sz="1150" b="0">
                <a:solidFill>
                  <a:srgbClr val="141414"/>
                </a:solidFill>
                <a:latin typeface="Arial"/>
              </a:rPr>
              <a:t>• UI and usability testing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074920"/>
            <a:ext cx="7498079" cy="486287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ctr"/>
            <a:r>
              <a:rPr sz="1400" b="1" dirty="0">
                <a:solidFill>
                  <a:srgbClr val="1F497D"/>
                </a:solidFill>
                <a:latin typeface="Arial"/>
              </a:rPr>
              <a:t>Shared: research, documentation, GitHub, code review, integration, security testing, final report, </a:t>
            </a:r>
            <a:r>
              <a:rPr sz="1400" b="1" dirty="0" smtClean="0">
                <a:solidFill>
                  <a:srgbClr val="1F497D"/>
                </a:solidFill>
                <a:latin typeface="Arial"/>
              </a:rPr>
              <a:t>presentation</a:t>
            </a:r>
            <a:r>
              <a:rPr lang="en-US" sz="1400" b="1" dirty="0" smtClean="0">
                <a:solidFill>
                  <a:srgbClr val="1F497D"/>
                </a:solidFill>
                <a:latin typeface="Arial"/>
              </a:rPr>
              <a:t> and</a:t>
            </a:r>
            <a:r>
              <a:rPr sz="1400" b="1" dirty="0" smtClean="0">
                <a:solidFill>
                  <a:srgbClr val="1F497D"/>
                </a:solidFill>
                <a:latin typeface="Arial"/>
              </a:rPr>
              <a:t> </a:t>
            </a:r>
            <a:r>
              <a:rPr sz="1400" b="1" dirty="0">
                <a:solidFill>
                  <a:srgbClr val="1F497D"/>
                </a:solidFill>
                <a:latin typeface="Arial"/>
              </a:rPr>
              <a:t>viva preparation.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fallOver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45720" tIns="18288" rIns="45720" bIns="18288"/>
          <a:lstStyle/>
          <a:p>
            <a:r>
              <a:rPr sz="2600" b="1">
                <a:solidFill>
                  <a:srgbClr val="1F497D"/>
                </a:solidFill>
                <a:latin typeface="Arial"/>
              </a:rPr>
              <a:t>CONSTRAINTS AND LIMITATIONS</a:t>
            </a:r>
          </a:p>
        </p:txBody>
      </p:sp>
    </p:spTree>
  </p:cSld>
  <p:clrMapOvr>
    <a:masterClrMapping/>
  </p:clrMapOvr>
  <p:transition spd="slow">
    <p:cover/>
  </p:transition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45720" tIns="18288" rIns="45720" bIns="18288"/>
          <a:lstStyle/>
          <a:p>
            <a:r>
              <a:rPr sz="2600" b="1">
                <a:solidFill>
                  <a:srgbClr val="1F497D"/>
                </a:solidFill>
                <a:latin typeface="Arial"/>
              </a:rPr>
              <a:t>Constraints and 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7680960" cy="29260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141414"/>
                </a:solidFill>
                <a:latin typeface="Arial"/>
              </a:defRPr>
            </a:pPr>
            <a:r>
              <a:rPr>
                <a:latin typeface="Arial"/>
              </a:rPr>
              <a:t>• Academic prototype only, not a production police system</a:t>
            </a:r>
          </a:p>
          <a:p>
            <a:pPr>
              <a:spcAft>
                <a:spcPts val="700"/>
              </a:spcAft>
              <a:defRPr sz="1800">
                <a:solidFill>
                  <a:srgbClr val="141414"/>
                </a:solidFill>
                <a:latin typeface="Arial"/>
              </a:defRPr>
            </a:pPr>
            <a:r>
              <a:rPr>
                <a:latin typeface="Arial"/>
              </a:rPr>
              <a:t>• Synthetic or demonstration data only</a:t>
            </a:r>
          </a:p>
          <a:p>
            <a:pPr>
              <a:spcAft>
                <a:spcPts val="700"/>
              </a:spcAft>
              <a:defRPr sz="1800">
                <a:solidFill>
                  <a:srgbClr val="141414"/>
                </a:solidFill>
                <a:latin typeface="Arial"/>
              </a:defRPr>
            </a:pPr>
            <a:r>
              <a:rPr>
                <a:latin typeface="Arial"/>
              </a:rPr>
              <a:t>• No NADRA, live police, or government system integration</a:t>
            </a:r>
          </a:p>
          <a:p>
            <a:pPr>
              <a:spcAft>
                <a:spcPts val="700"/>
              </a:spcAft>
              <a:defRPr sz="1800">
                <a:solidFill>
                  <a:srgbClr val="141414"/>
                </a:solidFill>
                <a:latin typeface="Arial"/>
              </a:defRPr>
            </a:pPr>
            <a:r>
              <a:rPr>
                <a:latin typeface="Arial"/>
              </a:rPr>
              <a:t>• Small controlled blockchain network for demonstration</a:t>
            </a:r>
          </a:p>
          <a:p>
            <a:pPr>
              <a:spcAft>
                <a:spcPts val="700"/>
              </a:spcAft>
              <a:defRPr sz="1800">
                <a:solidFill>
                  <a:srgbClr val="141414"/>
                </a:solidFill>
                <a:latin typeface="Arial"/>
              </a:defRPr>
            </a:pPr>
            <a:r>
              <a:rPr>
                <a:latin typeface="Arial"/>
              </a:rPr>
              <a:t>• Performance and scale testing limited by available student infrastructure</a:t>
            </a:r>
          </a:p>
          <a:p>
            <a:pPr>
              <a:spcAft>
                <a:spcPts val="700"/>
              </a:spcAft>
              <a:defRPr sz="1800">
                <a:solidFill>
                  <a:srgbClr val="141414"/>
                </a:solidFill>
                <a:latin typeface="Arial"/>
              </a:defRPr>
            </a:pPr>
            <a:r>
              <a:rPr>
                <a:latin typeface="Arial"/>
              </a:rPr>
              <a:t>• No legally binding digital FIR functionality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4572000"/>
            <a:ext cx="7498079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85800" y="4572000"/>
            <a:ext cx="64008" cy="100584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8" y="4681728"/>
            <a:ext cx="7269479" cy="34747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500" b="1">
                <a:solidFill>
                  <a:srgbClr val="1F497D"/>
                </a:solidFill>
                <a:latin typeface="Arial"/>
              </a:rPr>
              <a:t>Scope boundary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5074920"/>
            <a:ext cx="7269479" cy="41148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200" b="0">
                <a:solidFill>
                  <a:srgbClr val="141414"/>
                </a:solidFill>
                <a:latin typeface="Arial"/>
              </a:rPr>
              <a:t>The project investigates technical feasibility and does not claim operational or legal deployment.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45720" tIns="18288" rIns="45720" bIns="18288"/>
          <a:lstStyle/>
          <a:p>
            <a:r>
              <a:rPr sz="2600" b="1">
                <a:solidFill>
                  <a:srgbClr val="1F497D"/>
                </a:solidFill>
                <a:latin typeface="Arial"/>
              </a:rPr>
              <a:t>Expected Benefits and Success Criteria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34440"/>
            <a:ext cx="3749039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1234440"/>
            <a:ext cx="64008" cy="43434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582" y="1344168"/>
            <a:ext cx="3218225" cy="31701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700" b="1" dirty="0">
                <a:solidFill>
                  <a:srgbClr val="1F497D"/>
                </a:solidFill>
                <a:latin typeface="Arial"/>
              </a:rPr>
              <a:t>Expected benefits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37360"/>
            <a:ext cx="3520439" cy="3749039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300" b="0">
                <a:solidFill>
                  <a:srgbClr val="141414"/>
                </a:solidFill>
                <a:latin typeface="Arial"/>
              </a:rPr>
              <a:t>• Improved record integrity through cryptographic verification</a:t>
            </a:r>
            <a:r>
              <a:t/>
            </a:r>
            <a:br/>
            <a:r>
              <a:rPr sz="1300" b="0">
                <a:solidFill>
                  <a:srgbClr val="141414"/>
                </a:solidFill>
                <a:latin typeface="Arial"/>
              </a:rPr>
              <a:t>• Stronger accountability through RBAC and blockchain audit trails</a:t>
            </a:r>
            <a:r>
              <a:t/>
            </a:r>
            <a:br/>
            <a:r>
              <a:rPr sz="1300" b="0">
                <a:solidFill>
                  <a:srgbClr val="141414"/>
                </a:solidFill>
                <a:latin typeface="Arial"/>
              </a:rPr>
              <a:t>• Clearer visibility into the FIR lifecycle</a:t>
            </a:r>
            <a:r>
              <a:t/>
            </a:r>
            <a:br/>
            <a:r>
              <a:rPr sz="1300" b="0">
                <a:solidFill>
                  <a:srgbClr val="141414"/>
                </a:solidFill>
                <a:latin typeface="Arial"/>
              </a:rPr>
              <a:t>• Tamper evident evidence and document history</a:t>
            </a:r>
            <a:r>
              <a:t/>
            </a:r>
            <a:br/>
            <a:r>
              <a:rPr sz="1300" b="0">
                <a:solidFill>
                  <a:srgbClr val="141414"/>
                </a:solidFill>
                <a:latin typeface="Arial"/>
              </a:rPr>
              <a:t>• Practical demonstration of permissioned blockchain in a public sector workflow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234440"/>
            <a:ext cx="3749039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526280" y="1234440"/>
            <a:ext cx="64008" cy="4343400"/>
          </a:xfrm>
          <a:prstGeom prst="rect">
            <a:avLst/>
          </a:prstGeom>
          <a:solidFill>
            <a:srgbClr val="DAA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950691" y="1353404"/>
            <a:ext cx="3251476" cy="31701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700" b="1" dirty="0">
                <a:solidFill>
                  <a:srgbClr val="DAA520"/>
                </a:solidFill>
                <a:latin typeface="Arial"/>
              </a:rPr>
              <a:t>Success criteria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1728" y="1737360"/>
            <a:ext cx="3520439" cy="3749039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300" b="0">
                <a:solidFill>
                  <a:srgbClr val="141414"/>
                </a:solidFill>
                <a:latin typeface="Arial"/>
              </a:rPr>
              <a:t>• Authorized users authenticate and roles are enforced</a:t>
            </a:r>
            <a:r>
              <a:t/>
            </a:r>
            <a:br/>
            <a:r>
              <a:rPr sz="1300" b="0">
                <a:solidFill>
                  <a:srgbClr val="141414"/>
                </a:solidFill>
                <a:latin typeface="Arial"/>
              </a:rPr>
              <a:t>• FIRs move through defined workflow states</a:t>
            </a:r>
            <a:r>
              <a:t/>
            </a:r>
            <a:br/>
            <a:r>
              <a:rPr sz="1300" b="0">
                <a:solidFill>
                  <a:srgbClr val="141414"/>
                </a:solidFill>
                <a:latin typeface="Arial"/>
              </a:rPr>
              <a:t>• Evidence hashes are generated and verified</a:t>
            </a:r>
            <a:r>
              <a:t/>
            </a:r>
            <a:br/>
            <a:r>
              <a:rPr sz="1300" b="0">
                <a:solidFill>
                  <a:srgbClr val="141414"/>
                </a:solidFill>
                <a:latin typeface="Arial"/>
              </a:rPr>
              <a:t>• Key operations produce blockchain transactions</a:t>
            </a:r>
            <a:r>
              <a:t/>
            </a:r>
            <a:br/>
            <a:r>
              <a:rPr sz="1300" b="0">
                <a:solidFill>
                  <a:srgbClr val="141414"/>
                </a:solidFill>
                <a:latin typeface="Arial"/>
              </a:rPr>
              <a:t>• History can be retrieved and reconstructed</a:t>
            </a:r>
            <a:r>
              <a:t/>
            </a:r>
            <a:br/>
            <a:r>
              <a:rPr sz="1300" b="0">
                <a:solidFill>
                  <a:srgbClr val="141414"/>
                </a:solidFill>
                <a:latin typeface="Arial"/>
              </a:rPr>
              <a:t>• Unauthorized actions are rejected</a:t>
            </a:r>
            <a:r>
              <a:t/>
            </a:r>
            <a:br/>
            <a:r>
              <a:rPr sz="1300" b="0">
                <a:solidFill>
                  <a:srgbClr val="141414"/>
                </a:solidFill>
                <a:latin typeface="Arial"/>
              </a:rPr>
              <a:t>• End to end prototype works with synthetic data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45720" tIns="18288" rIns="45720" bIns="18288"/>
          <a:lstStyle/>
          <a:p>
            <a:r>
              <a:rPr sz="2600" b="1">
                <a:solidFill>
                  <a:srgbClr val="1F497D"/>
                </a:solidFill>
                <a:latin typeface="Arial"/>
              </a:rPr>
              <a:t>CONCLUSION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777240" y="304800"/>
            <a:ext cx="7701742" cy="2086725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ctr"/>
            <a:endParaRPr lang="en-US" sz="2200" b="1" dirty="0" smtClean="0">
              <a:solidFill>
                <a:srgbClr val="1F497D"/>
              </a:solidFill>
              <a:latin typeface="Arial"/>
            </a:endParaRPr>
          </a:p>
          <a:p>
            <a:pPr algn="ctr"/>
            <a:endParaRPr lang="en-US" sz="2200" b="1" dirty="0">
              <a:solidFill>
                <a:srgbClr val="1F497D"/>
              </a:solidFill>
            </a:endParaRPr>
          </a:p>
          <a:p>
            <a:pPr algn="ctr"/>
            <a:endParaRPr lang="en-US" sz="2200" b="1" dirty="0">
              <a:solidFill>
                <a:srgbClr val="1F497D"/>
              </a:solidFill>
            </a:endParaRPr>
          </a:p>
          <a:p>
            <a:pPr algn="ctr"/>
            <a:r>
              <a:rPr sz="2200" b="1" dirty="0" smtClean="0">
                <a:solidFill>
                  <a:srgbClr val="1F497D"/>
                </a:solidFill>
                <a:latin typeface="Arial"/>
              </a:rPr>
              <a:t>Digital FIR combines a conventional secure database with a permissioned </a:t>
            </a:r>
            <a:r>
              <a:rPr sz="2200" b="1" dirty="0" err="1" smtClean="0">
                <a:solidFill>
                  <a:srgbClr val="1F497D"/>
                </a:solidFill>
                <a:latin typeface="Arial"/>
              </a:rPr>
              <a:t>Hyperledger</a:t>
            </a:r>
            <a:r>
              <a:rPr sz="2200" b="1" dirty="0" smtClean="0">
                <a:solidFill>
                  <a:srgbClr val="1F497D"/>
                </a:solidFill>
                <a:latin typeface="Arial"/>
              </a:rPr>
              <a:t> Fabric layer to improve integrity, traceability and auditability of FIR workflows.</a:t>
            </a:r>
            <a:endParaRPr sz="2200" b="1" dirty="0">
              <a:solidFill>
                <a:srgbClr val="1F497D"/>
              </a:solidFill>
              <a:latin typeface="Arial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914400" y="3163732"/>
            <a:ext cx="694944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913569" y="3163732"/>
            <a:ext cx="64008" cy="1143000"/>
          </a:xfrm>
          <a:prstGeom prst="rect">
            <a:avLst/>
          </a:prstGeom>
          <a:solidFill>
            <a:srgbClr val="DAA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23668" y="3189310"/>
            <a:ext cx="6720840" cy="347472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600" b="1" dirty="0">
                <a:solidFill>
                  <a:srgbClr val="DAA520"/>
                </a:solidFill>
                <a:latin typeface="Arial"/>
              </a:rPr>
              <a:t>Core idea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" y="3634038"/>
            <a:ext cx="6720840" cy="455509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l"/>
            <a:r>
              <a:rPr sz="1300" b="0" dirty="0">
                <a:solidFill>
                  <a:srgbClr val="141414"/>
                </a:solidFill>
                <a:latin typeface="Arial"/>
              </a:rPr>
              <a:t>Sensitive information stays off chain. Hashes, transactions, workflow </a:t>
            </a:r>
            <a:r>
              <a:rPr sz="1300" b="0" dirty="0" smtClean="0">
                <a:solidFill>
                  <a:srgbClr val="141414"/>
                </a:solidFill>
                <a:latin typeface="Arial"/>
              </a:rPr>
              <a:t>events</a:t>
            </a:r>
            <a:r>
              <a:rPr lang="en-US" sz="1300" b="0" dirty="0" smtClean="0">
                <a:solidFill>
                  <a:srgbClr val="141414"/>
                </a:solidFill>
                <a:latin typeface="Arial"/>
              </a:rPr>
              <a:t> and</a:t>
            </a:r>
            <a:r>
              <a:rPr sz="1300" b="0" dirty="0" smtClean="0">
                <a:solidFill>
                  <a:srgbClr val="141414"/>
                </a:solidFill>
                <a:latin typeface="Arial"/>
              </a:rPr>
              <a:t> </a:t>
            </a:r>
            <a:r>
              <a:rPr sz="1300" b="0" dirty="0">
                <a:solidFill>
                  <a:srgbClr val="141414"/>
                </a:solidFill>
                <a:latin typeface="Arial"/>
              </a:rPr>
              <a:t>integrity metadata provide the verifiable audit layer.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6949440" cy="822960"/>
          </a:xfrm>
          <a:prstGeom prst="rect">
            <a:avLst/>
          </a:prstGeom>
          <a:noFill/>
        </p:spPr>
        <p:txBody>
          <a:bodyPr wrap="square" lIns="36576" tIns="27432" rIns="36576" bIns="27432">
            <a:spAutoFit/>
          </a:bodyPr>
          <a:lstStyle/>
          <a:p>
            <a:pPr algn="ctr"/>
            <a:r>
              <a:rPr sz="2400" b="1">
                <a:solidFill>
                  <a:srgbClr val="1F497D"/>
                </a:solidFill>
                <a:latin typeface="Arial"/>
              </a:rPr>
              <a:t>Thank You</a:t>
            </a:r>
            <a:r>
              <a:t/>
            </a:r>
            <a:br/>
            <a:r>
              <a:rPr sz="2400" b="1">
                <a:solidFill>
                  <a:srgbClr val="1F497D"/>
                </a:solidFill>
                <a:latin typeface="Arial"/>
              </a:rPr>
              <a:t>Questions?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6000">
        <p15:prstTrans prst="curtains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840</Words>
  <Application>Microsoft Office PowerPoint</Application>
  <PresentationFormat>On-screen Show (4:3)</PresentationFormat>
  <Paragraphs>166</Paragraphs>
  <Slides>23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Final Year Project Proposal</vt:lpstr>
      <vt:lpstr>Project Team</vt:lpstr>
      <vt:lpstr>Table of Content</vt:lpstr>
      <vt:lpstr>INTRODUCTION AND BACKGROUND</vt:lpstr>
      <vt:lpstr>Introduction and Background</vt:lpstr>
      <vt:lpstr>EXISTING SYSTEMS IN PAKISTAN</vt:lpstr>
      <vt:lpstr>Existing Systems and Comparison</vt:lpstr>
      <vt:lpstr>GAP ANALYSIS</vt:lpstr>
      <vt:lpstr>Research Gap and Novelty</vt:lpstr>
      <vt:lpstr>PROBLEM STATEMENT</vt:lpstr>
      <vt:lpstr>Problem Statement and Objectives</vt:lpstr>
      <vt:lpstr>PROPOSED SOLUTION AND METHODOLOGY</vt:lpstr>
      <vt:lpstr>Hybrid On Chain and Off Chain Design</vt:lpstr>
      <vt:lpstr>System Architecture and Technology Stack</vt:lpstr>
      <vt:lpstr>PROJECT SCOPE</vt:lpstr>
      <vt:lpstr>Project Scope</vt:lpstr>
      <vt:lpstr>Work Breakdown Structure</vt:lpstr>
      <vt:lpstr>Roles and Responsibilities</vt:lpstr>
      <vt:lpstr>CONSTRAINTS AND LIMITATIONS</vt:lpstr>
      <vt:lpstr>Constraints and Limitations</vt:lpstr>
      <vt:lpstr>Expected Benefits and Success Criteria</vt:lpstr>
      <vt:lpstr>CONCLUSION</vt:lpstr>
      <vt:lpstr>PowerPoint Presentation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Final Year Project Proposal</dc:title>
  <dc:creator>Khan</dc:creator>
  <cp:lastModifiedBy>Microsoft account</cp:lastModifiedBy>
  <cp:revision>7</cp:revision>
  <dcterms:created xsi:type="dcterms:W3CDTF">2013-01-22T07:04:44Z</dcterms:created>
  <dcterms:modified xsi:type="dcterms:W3CDTF">2026-09-13T18:05:46Z</dcterms:modified>
</cp:coreProperties>
</file>